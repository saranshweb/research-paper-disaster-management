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9556bf683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9895" y="1143171"/>
            <a:ext cx="5818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g3e9556bf683_2_69:notes"/>
          <p:cNvSpPr txBox="1">
            <a:spLocks noGrp="1"/>
          </p:cNvSpPr>
          <p:nvPr>
            <p:ph type="body" idx="1"/>
          </p:nvPr>
        </p:nvSpPr>
        <p:spPr>
          <a:xfrm>
            <a:off x="685512" y="4400259"/>
            <a:ext cx="54870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40675" rIns="81350" bIns="40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77" name="Google Shape;77;g3e9556bf683_2_69:notes"/>
          <p:cNvSpPr txBox="1">
            <a:spLocks noGrp="1"/>
          </p:cNvSpPr>
          <p:nvPr>
            <p:ph type="sldNum" idx="12"/>
          </p:nvPr>
        </p:nvSpPr>
        <p:spPr>
          <a:xfrm>
            <a:off x="3884088" y="8685113"/>
            <a:ext cx="29724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40675" rIns="81350" bIns="40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/>
              <a:t>1</a:t>
            </a:fld>
            <a:endParaRPr sz="1200"/>
          </a:p>
        </p:txBody>
      </p:sp>
      <p:sp>
        <p:nvSpPr>
          <p:cNvPr id="78" name="Google Shape;78;g3e9556bf683_2_69:notes"/>
          <p:cNvSpPr txBox="1">
            <a:spLocks noGrp="1"/>
          </p:cNvSpPr>
          <p:nvPr>
            <p:ph type="ftr" idx="11"/>
          </p:nvPr>
        </p:nvSpPr>
        <p:spPr>
          <a:xfrm>
            <a:off x="0" y="8685113"/>
            <a:ext cx="29724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40675" rIns="81350" bIns="406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Name of the faculty [Group: G00] [Sem:2nd]</a:t>
            </a:r>
            <a:endParaRPr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9556bf683_2_76:notes"/>
          <p:cNvSpPr txBox="1">
            <a:spLocks noGrp="1"/>
          </p:cNvSpPr>
          <p:nvPr>
            <p:ph type="body" idx="1"/>
          </p:nvPr>
        </p:nvSpPr>
        <p:spPr>
          <a:xfrm>
            <a:off x="685512" y="4400259"/>
            <a:ext cx="5487000" cy="36006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3e9556bf683_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9895" y="1143171"/>
            <a:ext cx="5818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9556bf683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9556bf683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9556bf683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9556bf683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9556bf683_0_1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9556bf683_0_1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9556bf683_0_1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9556bf683_0_1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9556bf683_0_1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9556bf683_0_1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9556bf683_0_2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9556bf683_0_2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9556bf683_0_79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e9556bf683_0_79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9556bf683_0_2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e9556bf683_0_2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9556bf683_0_2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9556bf683_0_2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9556bf683_0_7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e9556bf683_0_7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9556bf683_0_7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e9556bf683_0_7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e9556bf683_0_7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e9556bf683_0_7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9556bf683_0_78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e9556bf683_0_78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9556bf683_0_11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e9556bf683_0_11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e9556bf683_2_82:notes"/>
          <p:cNvSpPr txBox="1">
            <a:spLocks noGrp="1"/>
          </p:cNvSpPr>
          <p:nvPr>
            <p:ph type="body" idx="1"/>
          </p:nvPr>
        </p:nvSpPr>
        <p:spPr>
          <a:xfrm>
            <a:off x="685512" y="4400259"/>
            <a:ext cx="5487000" cy="36006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3e9556bf683_2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9895" y="1143171"/>
            <a:ext cx="5818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6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457200" y="120339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6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457200" y="120339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6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203390"/>
            <a:ext cx="4015800" cy="29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74240" y="1203390"/>
            <a:ext cx="4015800" cy="29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6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5486100" cy="3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6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1"/>
          </p:nvPr>
        </p:nvSpPr>
        <p:spPr>
          <a:xfrm>
            <a:off x="45720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2"/>
          </p:nvPr>
        </p:nvSpPr>
        <p:spPr>
          <a:xfrm>
            <a:off x="4674240" y="1203390"/>
            <a:ext cx="4015800" cy="29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3"/>
          </p:nvPr>
        </p:nvSpPr>
        <p:spPr>
          <a:xfrm>
            <a:off x="45720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6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1"/>
          </p:nvPr>
        </p:nvSpPr>
        <p:spPr>
          <a:xfrm>
            <a:off x="457200" y="1203390"/>
            <a:ext cx="4015800" cy="29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2"/>
          </p:nvPr>
        </p:nvSpPr>
        <p:spPr>
          <a:xfrm>
            <a:off x="467424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3"/>
          </p:nvPr>
        </p:nvSpPr>
        <p:spPr>
          <a:xfrm>
            <a:off x="467424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6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45720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2"/>
          </p:nvPr>
        </p:nvSpPr>
        <p:spPr>
          <a:xfrm>
            <a:off x="467424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3"/>
          </p:nvPr>
        </p:nvSpPr>
        <p:spPr>
          <a:xfrm>
            <a:off x="45720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6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457200" y="120339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2"/>
          </p:nvPr>
        </p:nvSpPr>
        <p:spPr>
          <a:xfrm>
            <a:off x="45720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6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body" idx="1"/>
          </p:nvPr>
        </p:nvSpPr>
        <p:spPr>
          <a:xfrm>
            <a:off x="45720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body" idx="2"/>
          </p:nvPr>
        </p:nvSpPr>
        <p:spPr>
          <a:xfrm>
            <a:off x="467424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3"/>
          </p:nvPr>
        </p:nvSpPr>
        <p:spPr>
          <a:xfrm>
            <a:off x="45720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body" idx="4"/>
          </p:nvPr>
        </p:nvSpPr>
        <p:spPr>
          <a:xfrm>
            <a:off x="467424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6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457200" y="1203390"/>
            <a:ext cx="26496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body" idx="2"/>
          </p:nvPr>
        </p:nvSpPr>
        <p:spPr>
          <a:xfrm>
            <a:off x="3239640" y="1203390"/>
            <a:ext cx="26496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3"/>
          </p:nvPr>
        </p:nvSpPr>
        <p:spPr>
          <a:xfrm>
            <a:off x="6022080" y="1203390"/>
            <a:ext cx="26496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body" idx="4"/>
          </p:nvPr>
        </p:nvSpPr>
        <p:spPr>
          <a:xfrm>
            <a:off x="457200" y="2761560"/>
            <a:ext cx="26496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5"/>
          </p:nvPr>
        </p:nvSpPr>
        <p:spPr>
          <a:xfrm>
            <a:off x="3239640" y="2761560"/>
            <a:ext cx="26496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6"/>
          </p:nvPr>
        </p:nvSpPr>
        <p:spPr>
          <a:xfrm>
            <a:off x="6022080" y="2761560"/>
            <a:ext cx="26496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3700" cy="62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 rot="10800000" flipH="1">
            <a:off x="0" y="5028510"/>
            <a:ext cx="9143700" cy="148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Google Shape;8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171450"/>
            <a:ext cx="2057039" cy="476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171450"/>
            <a:ext cx="2057039" cy="4760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1"/>
          <p:cNvGrpSpPr/>
          <p:nvPr/>
        </p:nvGrpSpPr>
        <p:grpSpPr>
          <a:xfrm>
            <a:off x="6146640" y="0"/>
            <a:ext cx="2997000" cy="656955"/>
            <a:chOff x="6146640" y="0"/>
            <a:chExt cx="2997000" cy="875940"/>
          </a:xfrm>
        </p:grpSpPr>
        <p:sp>
          <p:nvSpPr>
            <p:cNvPr id="11" name="Google Shape;11;p1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" name="Google Shape;12;p1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3;p1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Google Shape;14;p1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171450"/>
            <a:ext cx="144045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171450"/>
            <a:ext cx="2057039" cy="4760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oogle Shape;16;p1"/>
          <p:cNvGrpSpPr/>
          <p:nvPr/>
        </p:nvGrpSpPr>
        <p:grpSpPr>
          <a:xfrm>
            <a:off x="6146640" y="0"/>
            <a:ext cx="2997000" cy="656955"/>
            <a:chOff x="6146640" y="0"/>
            <a:chExt cx="2997000" cy="875940"/>
          </a:xfrm>
        </p:grpSpPr>
        <p:sp>
          <p:nvSpPr>
            <p:cNvPr id="17" name="Google Shape;17;p1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" name="Google Shape;18;p1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1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" name="Google Shape;20;p1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171450"/>
            <a:ext cx="1440450" cy="45684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00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1"/>
          <p:cNvSpPr txBox="1">
            <a:spLocks noGrp="1"/>
          </p:cNvSpPr>
          <p:nvPr>
            <p:ph type="body" idx="1"/>
          </p:nvPr>
        </p:nvSpPr>
        <p:spPr>
          <a:xfrm>
            <a:off x="457200" y="1028700"/>
            <a:ext cx="82293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"/>
          <p:cNvSpPr txBox="1">
            <a:spLocks noGrp="1"/>
          </p:cNvSpPr>
          <p:nvPr>
            <p:ph type="dt" idx="10"/>
          </p:nvPr>
        </p:nvSpPr>
        <p:spPr>
          <a:xfrm>
            <a:off x="457200" y="4767390"/>
            <a:ext cx="21333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1"/>
          <p:cNvSpPr txBox="1">
            <a:spLocks noGrp="1"/>
          </p:cNvSpPr>
          <p:nvPr>
            <p:ph type="ftr" idx="11"/>
          </p:nvPr>
        </p:nvSpPr>
        <p:spPr>
          <a:xfrm>
            <a:off x="3124080" y="4767390"/>
            <a:ext cx="28950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1"/>
          <p:cNvSpPr txBox="1">
            <a:spLocks noGrp="1"/>
          </p:cNvSpPr>
          <p:nvPr>
            <p:ph type="sldNum" idx="12"/>
          </p:nvPr>
        </p:nvSpPr>
        <p:spPr>
          <a:xfrm>
            <a:off x="6553080" y="4767390"/>
            <a:ext cx="21333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0" y="5000625"/>
            <a:ext cx="9144000" cy="142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381000" y="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CO-OP Project Presentation (Module-2)</a:t>
            </a:r>
            <a:endParaRPr sz="22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4"/>
          <p:cNvPicPr preferRelativeResize="0"/>
          <p:nvPr/>
        </p:nvPicPr>
        <p:blipFill rotWithShape="1">
          <a:blip r:embed="rId4">
            <a:alphaModFix/>
          </a:blip>
          <a:srcRect l="10" r="10"/>
          <a:stretch/>
        </p:blipFill>
        <p:spPr>
          <a:xfrm>
            <a:off x="6991350" y="171450"/>
            <a:ext cx="1767000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14"/>
          <p:cNvGrpSpPr/>
          <p:nvPr/>
        </p:nvGrpSpPr>
        <p:grpSpPr>
          <a:xfrm>
            <a:off x="381000" y="1047750"/>
            <a:ext cx="8382000" cy="1333500"/>
            <a:chOff x="381000" y="1047750"/>
            <a:chExt cx="8382000" cy="1333500"/>
          </a:xfrm>
        </p:grpSpPr>
        <p:sp>
          <p:nvSpPr>
            <p:cNvPr id="85" name="Google Shape;85;p14"/>
            <p:cNvSpPr/>
            <p:nvPr/>
          </p:nvSpPr>
          <p:spPr>
            <a:xfrm>
              <a:off x="381000" y="1047750"/>
              <a:ext cx="8382000" cy="1333500"/>
            </a:xfrm>
            <a:prstGeom prst="roundRect">
              <a:avLst>
                <a:gd name="adj" fmla="val 7142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571500" y="1190625"/>
              <a:ext cx="8001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On</a:t>
              </a:r>
              <a:endParaRPr sz="140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2800" b="1">
                  <a:solidFill>
                    <a:srgbClr val="FF4500"/>
                  </a:solidFill>
                  <a:latin typeface="Arial"/>
                  <a:ea typeface="Arial"/>
                  <a:cs typeface="Arial"/>
                  <a:sym typeface="Arial"/>
                </a:rPr>
                <a:t>SAFER</a:t>
              </a:r>
              <a:endParaRPr sz="2800" b="1">
                <a:solidFill>
                  <a:srgbClr val="FF45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GB" sz="16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Smart Alert and Fast Emergency Response</a:t>
              </a:r>
              <a:endParaRPr sz="16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p14"/>
          <p:cNvSpPr txBox="1"/>
          <p:nvPr/>
        </p:nvSpPr>
        <p:spPr>
          <a:xfrm>
            <a:off x="381000" y="2571750"/>
            <a:ext cx="40959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SUBMITTED BY</a:t>
            </a:r>
            <a:endParaRPr sz="7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GB" sz="875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Raghav Kaushal</a:t>
            </a:r>
            <a:endParaRPr sz="875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2210990699</a:t>
            </a:r>
            <a:endParaRPr sz="625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 sz="875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Saransh Sharma</a:t>
            </a:r>
            <a:endParaRPr sz="875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2210990797</a:t>
            </a:r>
            <a:endParaRPr sz="625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 sz="875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Saurav Sirswal</a:t>
            </a:r>
            <a:endParaRPr sz="875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2210990808</a:t>
            </a:r>
            <a:endParaRPr sz="625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 sz="875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Karan Lamba</a:t>
            </a:r>
            <a:endParaRPr sz="875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2210990</a:t>
            </a:r>
            <a:r>
              <a:rPr lang="en-GB" sz="625">
                <a:solidFill>
                  <a:srgbClr val="64748B"/>
                </a:solidFill>
              </a:rPr>
              <a:t>479</a:t>
            </a:r>
            <a:endParaRPr sz="625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4667250" y="2571750"/>
            <a:ext cx="40959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SUPERVISED BY</a:t>
            </a:r>
            <a:endParaRPr sz="120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Swati Goel</a:t>
            </a:r>
            <a:endParaRPr sz="1800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4667250" y="3476625"/>
            <a:ext cx="40959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</a:t>
            </a:r>
            <a:endParaRPr sz="1300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Chitkara University, Punjab</a:t>
            </a:r>
            <a:endParaRPr sz="1100" b="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0" y="5000625"/>
            <a:ext cx="9144000" cy="142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381000" y="0"/>
            <a:ext cx="5715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Presentation Index</a:t>
            </a:r>
            <a:endParaRPr sz="32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4">
            <a:alphaModFix/>
          </a:blip>
          <a:srcRect t="10" b="10"/>
          <a:stretch/>
        </p:blipFill>
        <p:spPr>
          <a:xfrm>
            <a:off x="6991350" y="171450"/>
            <a:ext cx="17673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7810500" y="4667250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9525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15"/>
          <p:cNvGrpSpPr/>
          <p:nvPr/>
        </p:nvGrpSpPr>
        <p:grpSpPr>
          <a:xfrm>
            <a:off x="381000" y="1047750"/>
            <a:ext cx="8382150" cy="3714900"/>
            <a:chOff x="381000" y="1047750"/>
            <a:chExt cx="8382150" cy="3714900"/>
          </a:xfrm>
        </p:grpSpPr>
        <p:grpSp>
          <p:nvGrpSpPr>
            <p:cNvPr id="100" name="Google Shape;100;p15"/>
            <p:cNvGrpSpPr/>
            <p:nvPr/>
          </p:nvGrpSpPr>
          <p:grpSpPr>
            <a:xfrm>
              <a:off x="381000" y="1047750"/>
              <a:ext cx="4095900" cy="666900"/>
              <a:chOff x="381000" y="1047750"/>
              <a:chExt cx="4095900" cy="666900"/>
            </a:xfrm>
          </p:grpSpPr>
          <p:sp>
            <p:nvSpPr>
              <p:cNvPr id="101" name="Google Shape;101;p15"/>
              <p:cNvSpPr/>
              <p:nvPr/>
            </p:nvSpPr>
            <p:spPr>
              <a:xfrm>
                <a:off x="381000" y="1047750"/>
                <a:ext cx="4095900" cy="666900"/>
              </a:xfrm>
              <a:prstGeom prst="roundRect">
                <a:avLst>
                  <a:gd name="adj" fmla="val 11428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5"/>
              <p:cNvSpPr txBox="1"/>
              <p:nvPr/>
            </p:nvSpPr>
            <p:spPr>
              <a:xfrm>
                <a:off x="381000" y="1047750"/>
                <a:ext cx="4095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b="1">
                    <a:solidFill>
                      <a:srgbClr val="FF4500"/>
                    </a:solidFill>
                    <a:latin typeface="Arial"/>
                    <a:ea typeface="Arial"/>
                    <a:cs typeface="Arial"/>
                    <a:sym typeface="Arial"/>
                  </a:rPr>
                  <a:t>01 </a:t>
                </a:r>
                <a:r>
                  <a:rPr lang="en-GB" sz="14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Introduction &amp; Objectives</a:t>
                </a:r>
                <a:endParaRPr sz="1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Google Shape;103;p15"/>
            <p:cNvGrpSpPr/>
            <p:nvPr/>
          </p:nvGrpSpPr>
          <p:grpSpPr>
            <a:xfrm>
              <a:off x="4667250" y="1047750"/>
              <a:ext cx="4095900" cy="666900"/>
              <a:chOff x="4667250" y="1047750"/>
              <a:chExt cx="4095900" cy="666900"/>
            </a:xfrm>
          </p:grpSpPr>
          <p:sp>
            <p:nvSpPr>
              <p:cNvPr id="104" name="Google Shape;104;p15"/>
              <p:cNvSpPr/>
              <p:nvPr/>
            </p:nvSpPr>
            <p:spPr>
              <a:xfrm>
                <a:off x="4667250" y="1047750"/>
                <a:ext cx="4095900" cy="666900"/>
              </a:xfrm>
              <a:prstGeom prst="roundRect">
                <a:avLst>
                  <a:gd name="adj" fmla="val 11428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15"/>
              <p:cNvSpPr txBox="1"/>
              <p:nvPr/>
            </p:nvSpPr>
            <p:spPr>
              <a:xfrm>
                <a:off x="4667250" y="1047750"/>
                <a:ext cx="4095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b="1">
                    <a:solidFill>
                      <a:srgbClr val="FF4500"/>
                    </a:solidFill>
                    <a:latin typeface="Arial"/>
                    <a:ea typeface="Arial"/>
                    <a:cs typeface="Arial"/>
                    <a:sym typeface="Arial"/>
                  </a:rPr>
                  <a:t>02 </a:t>
                </a:r>
                <a:r>
                  <a:rPr lang="en-GB" sz="14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Problem Statement</a:t>
                </a:r>
                <a:endParaRPr sz="1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6" name="Google Shape;106;p15"/>
            <p:cNvGrpSpPr/>
            <p:nvPr/>
          </p:nvGrpSpPr>
          <p:grpSpPr>
            <a:xfrm>
              <a:off x="381000" y="1857375"/>
              <a:ext cx="4095900" cy="666900"/>
              <a:chOff x="381000" y="1857375"/>
              <a:chExt cx="4095900" cy="666900"/>
            </a:xfrm>
          </p:grpSpPr>
          <p:sp>
            <p:nvSpPr>
              <p:cNvPr id="107" name="Google Shape;107;p15"/>
              <p:cNvSpPr/>
              <p:nvPr/>
            </p:nvSpPr>
            <p:spPr>
              <a:xfrm>
                <a:off x="381000" y="1857375"/>
                <a:ext cx="4095900" cy="666900"/>
              </a:xfrm>
              <a:prstGeom prst="roundRect">
                <a:avLst>
                  <a:gd name="adj" fmla="val 11428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5"/>
              <p:cNvSpPr txBox="1"/>
              <p:nvPr/>
            </p:nvSpPr>
            <p:spPr>
              <a:xfrm>
                <a:off x="381000" y="1857375"/>
                <a:ext cx="4095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b="1">
                    <a:solidFill>
                      <a:srgbClr val="FF4500"/>
                    </a:solidFill>
                    <a:latin typeface="Arial"/>
                    <a:ea typeface="Arial"/>
                    <a:cs typeface="Arial"/>
                    <a:sym typeface="Arial"/>
                  </a:rPr>
                  <a:t>03 </a:t>
                </a:r>
                <a:r>
                  <a:rPr lang="en-GB" sz="14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Technology Stack</a:t>
                </a:r>
                <a:endParaRPr sz="1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9" name="Google Shape;109;p15"/>
            <p:cNvGrpSpPr/>
            <p:nvPr/>
          </p:nvGrpSpPr>
          <p:grpSpPr>
            <a:xfrm>
              <a:off x="4667250" y="1857375"/>
              <a:ext cx="4095900" cy="666900"/>
              <a:chOff x="4667250" y="1857375"/>
              <a:chExt cx="4095900" cy="666900"/>
            </a:xfrm>
          </p:grpSpPr>
          <p:sp>
            <p:nvSpPr>
              <p:cNvPr id="110" name="Google Shape;110;p15"/>
              <p:cNvSpPr/>
              <p:nvPr/>
            </p:nvSpPr>
            <p:spPr>
              <a:xfrm>
                <a:off x="4667250" y="1857375"/>
                <a:ext cx="4095900" cy="666900"/>
              </a:xfrm>
              <a:prstGeom prst="roundRect">
                <a:avLst>
                  <a:gd name="adj" fmla="val 11428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5"/>
              <p:cNvSpPr txBox="1"/>
              <p:nvPr/>
            </p:nvSpPr>
            <p:spPr>
              <a:xfrm>
                <a:off x="4667250" y="1857375"/>
                <a:ext cx="4095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b="1">
                    <a:solidFill>
                      <a:srgbClr val="FF4500"/>
                    </a:solidFill>
                    <a:latin typeface="Arial"/>
                    <a:ea typeface="Arial"/>
                    <a:cs typeface="Arial"/>
                    <a:sym typeface="Arial"/>
                  </a:rPr>
                  <a:t>04 </a:t>
                </a:r>
                <a:r>
                  <a:rPr lang="en-GB" sz="14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Research Gaps</a:t>
                </a:r>
                <a:endParaRPr sz="1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2" name="Google Shape;112;p15"/>
            <p:cNvGrpSpPr/>
            <p:nvPr/>
          </p:nvGrpSpPr>
          <p:grpSpPr>
            <a:xfrm>
              <a:off x="381000" y="2667000"/>
              <a:ext cx="4095900" cy="666900"/>
              <a:chOff x="381000" y="2667000"/>
              <a:chExt cx="4095900" cy="666900"/>
            </a:xfrm>
          </p:grpSpPr>
          <p:sp>
            <p:nvSpPr>
              <p:cNvPr id="113" name="Google Shape;113;p15"/>
              <p:cNvSpPr/>
              <p:nvPr/>
            </p:nvSpPr>
            <p:spPr>
              <a:xfrm>
                <a:off x="381000" y="2667000"/>
                <a:ext cx="4095900" cy="666900"/>
              </a:xfrm>
              <a:prstGeom prst="roundRect">
                <a:avLst>
                  <a:gd name="adj" fmla="val 11428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5"/>
              <p:cNvSpPr txBox="1"/>
              <p:nvPr/>
            </p:nvSpPr>
            <p:spPr>
              <a:xfrm>
                <a:off x="381000" y="2667000"/>
                <a:ext cx="4095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b="1">
                    <a:solidFill>
                      <a:srgbClr val="FF4500"/>
                    </a:solidFill>
                    <a:latin typeface="Arial"/>
                    <a:ea typeface="Arial"/>
                    <a:cs typeface="Arial"/>
                    <a:sym typeface="Arial"/>
                  </a:rPr>
                  <a:t>05 </a:t>
                </a:r>
                <a:r>
                  <a:rPr lang="en-GB" sz="14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System Architecture</a:t>
                </a:r>
                <a:endParaRPr sz="1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" name="Google Shape;115;p15"/>
            <p:cNvGrpSpPr/>
            <p:nvPr/>
          </p:nvGrpSpPr>
          <p:grpSpPr>
            <a:xfrm>
              <a:off x="4667250" y="2667000"/>
              <a:ext cx="4095900" cy="666900"/>
              <a:chOff x="4667250" y="2667000"/>
              <a:chExt cx="4095900" cy="666900"/>
            </a:xfrm>
          </p:grpSpPr>
          <p:sp>
            <p:nvSpPr>
              <p:cNvPr id="116" name="Google Shape;116;p15"/>
              <p:cNvSpPr/>
              <p:nvPr/>
            </p:nvSpPr>
            <p:spPr>
              <a:xfrm>
                <a:off x="4667250" y="2667000"/>
                <a:ext cx="4095900" cy="666900"/>
              </a:xfrm>
              <a:prstGeom prst="roundRect">
                <a:avLst>
                  <a:gd name="adj" fmla="val 11428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15"/>
              <p:cNvSpPr txBox="1"/>
              <p:nvPr/>
            </p:nvSpPr>
            <p:spPr>
              <a:xfrm>
                <a:off x="4667250" y="2667000"/>
                <a:ext cx="4095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b="1">
                    <a:solidFill>
                      <a:srgbClr val="FF4500"/>
                    </a:solidFill>
                    <a:latin typeface="Arial"/>
                    <a:ea typeface="Arial"/>
                    <a:cs typeface="Arial"/>
                    <a:sym typeface="Arial"/>
                  </a:rPr>
                  <a:t>06 </a:t>
                </a:r>
                <a:r>
                  <a:rPr lang="en-GB" sz="14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Model Performance Analysis</a:t>
                </a:r>
                <a:endParaRPr sz="1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" name="Google Shape;118;p15"/>
            <p:cNvGrpSpPr/>
            <p:nvPr/>
          </p:nvGrpSpPr>
          <p:grpSpPr>
            <a:xfrm>
              <a:off x="381000" y="3476625"/>
              <a:ext cx="4095900" cy="666900"/>
              <a:chOff x="381000" y="3476625"/>
              <a:chExt cx="4095900" cy="666900"/>
            </a:xfrm>
          </p:grpSpPr>
          <p:sp>
            <p:nvSpPr>
              <p:cNvPr id="119" name="Google Shape;119;p15"/>
              <p:cNvSpPr/>
              <p:nvPr/>
            </p:nvSpPr>
            <p:spPr>
              <a:xfrm>
                <a:off x="381000" y="3476625"/>
                <a:ext cx="4095900" cy="666900"/>
              </a:xfrm>
              <a:prstGeom prst="roundRect">
                <a:avLst>
                  <a:gd name="adj" fmla="val 11428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5"/>
              <p:cNvSpPr txBox="1"/>
              <p:nvPr/>
            </p:nvSpPr>
            <p:spPr>
              <a:xfrm>
                <a:off x="381000" y="3476625"/>
                <a:ext cx="4095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b="1">
                    <a:solidFill>
                      <a:srgbClr val="FF4500"/>
                    </a:solidFill>
                    <a:latin typeface="Arial"/>
                    <a:ea typeface="Arial"/>
                    <a:cs typeface="Arial"/>
                    <a:sym typeface="Arial"/>
                  </a:rPr>
                  <a:t>07 </a:t>
                </a:r>
                <a:r>
                  <a:rPr lang="en-GB" sz="14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Disaster Forecasting</a:t>
                </a:r>
                <a:endParaRPr sz="1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" name="Google Shape;121;p15"/>
            <p:cNvGrpSpPr/>
            <p:nvPr/>
          </p:nvGrpSpPr>
          <p:grpSpPr>
            <a:xfrm>
              <a:off x="4667250" y="3476625"/>
              <a:ext cx="4095900" cy="666900"/>
              <a:chOff x="4667250" y="3476625"/>
              <a:chExt cx="4095900" cy="666900"/>
            </a:xfrm>
          </p:grpSpPr>
          <p:sp>
            <p:nvSpPr>
              <p:cNvPr id="122" name="Google Shape;122;p15"/>
              <p:cNvSpPr/>
              <p:nvPr/>
            </p:nvSpPr>
            <p:spPr>
              <a:xfrm>
                <a:off x="4667250" y="3476625"/>
                <a:ext cx="4095900" cy="666900"/>
              </a:xfrm>
              <a:prstGeom prst="roundRect">
                <a:avLst>
                  <a:gd name="adj" fmla="val 11428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15"/>
              <p:cNvSpPr txBox="1"/>
              <p:nvPr/>
            </p:nvSpPr>
            <p:spPr>
              <a:xfrm>
                <a:off x="4667250" y="3476625"/>
                <a:ext cx="4095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b="1">
                    <a:solidFill>
                      <a:srgbClr val="FF4500"/>
                    </a:solidFill>
                    <a:latin typeface="Arial"/>
                    <a:ea typeface="Arial"/>
                    <a:cs typeface="Arial"/>
                    <a:sym typeface="Arial"/>
                  </a:rPr>
                  <a:t>08 </a:t>
                </a:r>
                <a:r>
                  <a:rPr lang="en-GB" sz="14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Major Findings</a:t>
                </a:r>
                <a:endParaRPr sz="1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" name="Google Shape;124;p15"/>
            <p:cNvGrpSpPr/>
            <p:nvPr/>
          </p:nvGrpSpPr>
          <p:grpSpPr>
            <a:xfrm>
              <a:off x="381000" y="4286250"/>
              <a:ext cx="8382000" cy="476400"/>
              <a:chOff x="381000" y="4286250"/>
              <a:chExt cx="8382000" cy="476400"/>
            </a:xfrm>
          </p:grpSpPr>
          <p:sp>
            <p:nvSpPr>
              <p:cNvPr id="125" name="Google Shape;125;p15"/>
              <p:cNvSpPr/>
              <p:nvPr/>
            </p:nvSpPr>
            <p:spPr>
              <a:xfrm>
                <a:off x="381000" y="4286250"/>
                <a:ext cx="8382000" cy="476400"/>
              </a:xfrm>
              <a:prstGeom prst="roundRect">
                <a:avLst>
                  <a:gd name="adj" fmla="val 16000"/>
                </a:avLst>
              </a:prstGeom>
              <a:solidFill>
                <a:srgbClr val="FF45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15"/>
              <p:cNvSpPr txBox="1"/>
              <p:nvPr/>
            </p:nvSpPr>
            <p:spPr>
              <a:xfrm>
                <a:off x="381000" y="4286250"/>
                <a:ext cx="8382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09 Key Features &amp; Conclusion</a:t>
                </a:r>
                <a:endParaRPr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0" y="5000625"/>
            <a:ext cx="9144000" cy="142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" name="Google Shape;133;p16"/>
          <p:cNvPicPr preferRelativeResize="0"/>
          <p:nvPr/>
        </p:nvPicPr>
        <p:blipFill rotWithShape="1">
          <a:blip r:embed="rId4">
            <a:alphaModFix/>
          </a:blip>
          <a:srcRect l="10" t="10" r="10" b="10"/>
          <a:stretch/>
        </p:blipFill>
        <p:spPr>
          <a:xfrm>
            <a:off x="6830806" y="176244"/>
            <a:ext cx="1767000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16"/>
          <p:cNvGrpSpPr/>
          <p:nvPr/>
        </p:nvGrpSpPr>
        <p:grpSpPr>
          <a:xfrm>
            <a:off x="381000" y="1047750"/>
            <a:ext cx="8382000" cy="1143000"/>
            <a:chOff x="381000" y="1047750"/>
            <a:chExt cx="8382000" cy="1143000"/>
          </a:xfrm>
        </p:grpSpPr>
        <p:sp>
          <p:nvSpPr>
            <p:cNvPr id="135" name="Google Shape;135;p16"/>
            <p:cNvSpPr/>
            <p:nvPr/>
          </p:nvSpPr>
          <p:spPr>
            <a:xfrm>
              <a:off x="381000" y="1047750"/>
              <a:ext cx="83820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666750" y="1047750"/>
              <a:ext cx="7810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The SAFER Portal is a sophisticated disaster response system designed to reduce the impacts of natural catastrophes through real-time data availability.</a:t>
              </a:r>
              <a:endParaRPr sz="1600" b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" name="Google Shape;137;p16"/>
          <p:cNvGrpSpPr/>
          <p:nvPr/>
        </p:nvGrpSpPr>
        <p:grpSpPr>
          <a:xfrm>
            <a:off x="381000" y="2476500"/>
            <a:ext cx="2600400" cy="1714500"/>
            <a:chOff x="381000" y="2476500"/>
            <a:chExt cx="2600400" cy="1714500"/>
          </a:xfrm>
        </p:grpSpPr>
        <p:sp>
          <p:nvSpPr>
            <p:cNvPr id="138" name="Google Shape;138;p16"/>
            <p:cNvSpPr/>
            <p:nvPr/>
          </p:nvSpPr>
          <p:spPr>
            <a:xfrm>
              <a:off x="381000" y="2476500"/>
              <a:ext cx="26004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381000" y="2619375"/>
              <a:ext cx="2600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GB" sz="14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Live Updates</a:t>
              </a:r>
              <a:endParaRPr sz="14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Earthquakes, Cyclones, and Floods.</a:t>
              </a:r>
              <a:endParaRPr sz="11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16"/>
          <p:cNvGrpSpPr/>
          <p:nvPr/>
        </p:nvGrpSpPr>
        <p:grpSpPr>
          <a:xfrm>
            <a:off x="3267075" y="2476500"/>
            <a:ext cx="2600400" cy="1714500"/>
            <a:chOff x="3267075" y="2476500"/>
            <a:chExt cx="2600400" cy="1714500"/>
          </a:xfrm>
        </p:grpSpPr>
        <p:sp>
          <p:nvSpPr>
            <p:cNvPr id="141" name="Google Shape;141;p16"/>
            <p:cNvSpPr/>
            <p:nvPr/>
          </p:nvSpPr>
          <p:spPr>
            <a:xfrm>
              <a:off x="3267075" y="2476500"/>
              <a:ext cx="26004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3267075" y="2619375"/>
              <a:ext cx="2600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GB" sz="14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AI Assistance</a:t>
              </a:r>
              <a:endParaRPr sz="14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Powered by AI and smart Chatbots.</a:t>
              </a:r>
              <a:endParaRPr sz="11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16"/>
          <p:cNvGrpSpPr/>
          <p:nvPr/>
        </p:nvGrpSpPr>
        <p:grpSpPr>
          <a:xfrm>
            <a:off x="6162675" y="2476500"/>
            <a:ext cx="2600400" cy="1714500"/>
            <a:chOff x="6162675" y="2476500"/>
            <a:chExt cx="2600400" cy="1714500"/>
          </a:xfrm>
        </p:grpSpPr>
        <p:sp>
          <p:nvSpPr>
            <p:cNvPr id="144" name="Google Shape;144;p16"/>
            <p:cNvSpPr/>
            <p:nvPr/>
          </p:nvSpPr>
          <p:spPr>
            <a:xfrm>
              <a:off x="6162675" y="2476500"/>
              <a:ext cx="26004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6"/>
            <p:cNvSpPr txBox="1"/>
            <p:nvPr/>
          </p:nvSpPr>
          <p:spPr>
            <a:xfrm>
              <a:off x="6162675" y="2619375"/>
              <a:ext cx="2600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GB" sz="14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Modern Interface</a:t>
              </a:r>
              <a:endParaRPr sz="14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Multilingual and mobile-friendly.</a:t>
              </a:r>
              <a:endParaRPr sz="11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" name="Google Shape;146;p16"/>
          <p:cNvSpPr/>
          <p:nvPr/>
        </p:nvSpPr>
        <p:spPr>
          <a:xfrm>
            <a:off x="0" y="5000625"/>
            <a:ext cx="9144000" cy="142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" name="Google Shape;147;p16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48" name="Google Shape;148;p16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FF45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6"/>
            <p:cNvSpPr txBox="1"/>
            <p:nvPr/>
          </p:nvSpPr>
          <p:spPr>
            <a:xfrm>
              <a:off x="381000" y="0"/>
              <a:ext cx="571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Introduction to SAFER</a:t>
              </a:r>
              <a:endParaRPr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71BBF8F-EE89-B13B-0807-1264C8E28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440" y="2619375"/>
            <a:ext cx="952633" cy="5906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2F9C95-CB1E-FBD8-5DC2-22151F294E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21" y="2532369"/>
            <a:ext cx="943107" cy="752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E91700-AA6C-9600-5765-A5FAD1F472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4190" y="2726443"/>
            <a:ext cx="857370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0" y="5000625"/>
            <a:ext cx="9144000" cy="142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29425" y="176213"/>
            <a:ext cx="17670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381000" y="0"/>
            <a:ext cx="5715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Problem Statement</a:t>
            </a:r>
            <a:endParaRPr sz="32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" name="Google Shape;158;p17"/>
          <p:cNvGrpSpPr/>
          <p:nvPr/>
        </p:nvGrpSpPr>
        <p:grpSpPr>
          <a:xfrm>
            <a:off x="381000" y="1333500"/>
            <a:ext cx="8382075" cy="3048000"/>
            <a:chOff x="381000" y="1333500"/>
            <a:chExt cx="8382075" cy="3048000"/>
          </a:xfrm>
        </p:grpSpPr>
        <p:sp>
          <p:nvSpPr>
            <p:cNvPr id="159" name="Google Shape;159;p17"/>
            <p:cNvSpPr/>
            <p:nvPr/>
          </p:nvSpPr>
          <p:spPr>
            <a:xfrm>
              <a:off x="381000" y="1333500"/>
              <a:ext cx="2600400" cy="3048000"/>
            </a:xfrm>
            <a:prstGeom prst="roundRect">
              <a:avLst>
                <a:gd name="adj" fmla="val 439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571500" y="1571625"/>
              <a:ext cx="22194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GB" sz="16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Severity &amp; Frequency</a:t>
              </a:r>
              <a:endParaRPr sz="16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1200" b="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Increasing natural disasters attributed to climate change and urbanization require proactive strategies.</a:t>
              </a:r>
              <a:endParaRPr sz="1200" b="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3267075" y="1333500"/>
              <a:ext cx="2600400" cy="3048000"/>
            </a:xfrm>
            <a:prstGeom prst="roundRect">
              <a:avLst>
                <a:gd name="adj" fmla="val 439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3457575" y="1571625"/>
              <a:ext cx="22194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36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GB" sz="16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Slow Data Refresh</a:t>
              </a:r>
              <a:endParaRPr sz="16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1200" b="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Existing platforms suffer from fragmented response efforts and delayed emergency coordination.</a:t>
              </a:r>
              <a:endParaRPr sz="1200" b="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6162675" y="1333500"/>
              <a:ext cx="2600400" cy="3048000"/>
            </a:xfrm>
            <a:prstGeom prst="roundRect">
              <a:avLst>
                <a:gd name="adj" fmla="val 439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7"/>
            <p:cNvSpPr txBox="1"/>
            <p:nvPr/>
          </p:nvSpPr>
          <p:spPr>
            <a:xfrm>
              <a:off x="6353175" y="1571625"/>
              <a:ext cx="22194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GB" sz="16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Poor Engagement</a:t>
              </a:r>
              <a:endParaRPr sz="16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1200" b="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Conventional disaster websites lack interactive elements and real-time public communication.</a:t>
              </a:r>
              <a:endParaRPr sz="1200" b="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5ED58E0-FA3A-6E60-B7C2-BB6C2693F0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085" y="1502699"/>
            <a:ext cx="1377800" cy="743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B90EA7-B535-547A-7873-165F468658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189" y="1427225"/>
            <a:ext cx="1313645" cy="8652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CD9A80-9524-F8FB-5B41-CFCBC39239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0173" y="1459830"/>
            <a:ext cx="876422" cy="8287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0" y="5000625"/>
            <a:ext cx="9144000" cy="142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1" name="Google Shape;17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29425" y="176213"/>
            <a:ext cx="17670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381000" y="0"/>
            <a:ext cx="5715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Core Project Objectives</a:t>
            </a:r>
            <a:endParaRPr sz="32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" name="Google Shape;173;p18"/>
          <p:cNvGrpSpPr/>
          <p:nvPr/>
        </p:nvGrpSpPr>
        <p:grpSpPr>
          <a:xfrm>
            <a:off x="381000" y="1143000"/>
            <a:ext cx="4095900" cy="1714500"/>
            <a:chOff x="381000" y="1143000"/>
            <a:chExt cx="4095900" cy="1714500"/>
          </a:xfrm>
        </p:grpSpPr>
        <p:sp>
          <p:nvSpPr>
            <p:cNvPr id="174" name="Google Shape;174;p18"/>
            <p:cNvSpPr/>
            <p:nvPr/>
          </p:nvSpPr>
          <p:spPr>
            <a:xfrm>
              <a:off x="381000" y="1143000"/>
              <a:ext cx="40959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8"/>
            <p:cNvSpPr txBox="1"/>
            <p:nvPr/>
          </p:nvSpPr>
          <p:spPr>
            <a:xfrm>
              <a:off x="571500" y="1285875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GB" sz="1395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Swift Dissemination</a:t>
              </a:r>
              <a:endParaRPr sz="1395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82734" algn="l" rtl="0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853"/>
                <a:buFont typeface="Arial"/>
                <a:buChar char="●"/>
              </a:pPr>
              <a:r>
                <a:rPr lang="en-GB" sz="853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Multi-channel alerting via SMS, email, and push notifications to vulnerable populations.</a:t>
              </a:r>
              <a:endParaRPr sz="853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82734" algn="l" rtl="0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853"/>
                <a:buFont typeface="Arial"/>
                <a:buChar char="●"/>
              </a:pPr>
              <a:r>
                <a:rPr lang="en-GB" sz="853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Mobile-accessible and interactive reporting enabled for user-friendly engagement.</a:t>
              </a:r>
              <a:endParaRPr sz="853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18"/>
          <p:cNvGrpSpPr/>
          <p:nvPr/>
        </p:nvGrpSpPr>
        <p:grpSpPr>
          <a:xfrm>
            <a:off x="4667250" y="1143000"/>
            <a:ext cx="4095900" cy="1714500"/>
            <a:chOff x="4667250" y="1143000"/>
            <a:chExt cx="4095900" cy="1714500"/>
          </a:xfrm>
        </p:grpSpPr>
        <p:sp>
          <p:nvSpPr>
            <p:cNvPr id="177" name="Google Shape;177;p18"/>
            <p:cNvSpPr/>
            <p:nvPr/>
          </p:nvSpPr>
          <p:spPr>
            <a:xfrm>
              <a:off x="4667250" y="1143000"/>
              <a:ext cx="40959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4857750" y="1285875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GB" sz="1395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Coordination Hub</a:t>
              </a:r>
              <a:endParaRPr sz="1395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82734" algn="l" rtl="0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853"/>
                <a:buFont typeface="Arial"/>
                <a:buChar char="●"/>
              </a:pPr>
              <a:r>
                <a:rPr lang="en-GB" sz="853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Centralized emergency phonebook, hospital directory, and relief material tracking.</a:t>
              </a:r>
              <a:endParaRPr sz="853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82734" algn="l" rtl="0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853"/>
                <a:buFont typeface="Arial"/>
                <a:buChar char="●"/>
              </a:pPr>
              <a:r>
                <a:rPr lang="en-GB" sz="853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Predictive analytics through AI to track disaster trends and improve preparedness.</a:t>
              </a:r>
              <a:endParaRPr sz="853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18"/>
          <p:cNvGrpSpPr/>
          <p:nvPr/>
        </p:nvGrpSpPr>
        <p:grpSpPr>
          <a:xfrm>
            <a:off x="381000" y="3048000"/>
            <a:ext cx="8382000" cy="1714500"/>
            <a:chOff x="381000" y="3048000"/>
            <a:chExt cx="8382000" cy="1714500"/>
          </a:xfrm>
        </p:grpSpPr>
        <p:pic>
          <p:nvPicPr>
            <p:cNvPr id="180" name="Google Shape;180;p18" descr="A wide, cinematic, professional shot of a modern disaster management command center with high-tech screens showing digital maps and data analytics. Soft, bright lighting."/>
            <p:cNvPicPr preferRelativeResize="0"/>
            <p:nvPr/>
          </p:nvPicPr>
          <p:blipFill rotWithShape="1">
            <a:blip r:embed="rId5">
              <a:alphaModFix/>
            </a:blip>
            <a:srcRect t="31818" b="31818"/>
            <a:stretch/>
          </p:blipFill>
          <p:spPr>
            <a:xfrm>
              <a:off x="381000" y="3048000"/>
              <a:ext cx="8382000" cy="17145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181" name="Google Shape;181;p18"/>
            <p:cNvSpPr/>
            <p:nvPr/>
          </p:nvSpPr>
          <p:spPr>
            <a:xfrm>
              <a:off x="381000" y="3048000"/>
              <a:ext cx="8382000" cy="1714500"/>
            </a:xfrm>
            <a:prstGeom prst="roundRect">
              <a:avLst>
                <a:gd name="adj" fmla="val 6666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35A3169-8233-0471-BE9D-888B11F5AF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733" y="1249653"/>
            <a:ext cx="748865" cy="4567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B30EB6-ABDF-AB0E-DCE8-BE515E89AC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1197025"/>
            <a:ext cx="704948" cy="5620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7" name="Google Shape;187;p19"/>
          <p:cNvGrpSpPr/>
          <p:nvPr/>
        </p:nvGrpSpPr>
        <p:grpSpPr>
          <a:xfrm>
            <a:off x="0" y="0"/>
            <a:ext cx="9144000" cy="5143425"/>
            <a:chOff x="0" y="0"/>
            <a:chExt cx="9144000" cy="5143425"/>
          </a:xfrm>
        </p:grpSpPr>
        <p:sp>
          <p:nvSpPr>
            <p:cNvPr id="188" name="Google Shape;188;p19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FF45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0" y="5000625"/>
              <a:ext cx="9144000" cy="142800"/>
            </a:xfrm>
            <a:prstGeom prst="rect">
              <a:avLst/>
            </a:prstGeom>
            <a:solidFill>
              <a:srgbClr val="FF45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19"/>
          <p:cNvSpPr/>
          <p:nvPr/>
        </p:nvSpPr>
        <p:spPr>
          <a:xfrm>
            <a:off x="0" y="5000625"/>
            <a:ext cx="9144000" cy="142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1" name="Google Shape;191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29425" y="176213"/>
            <a:ext cx="17670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381000" y="0"/>
            <a:ext cx="5715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 sz="32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19"/>
          <p:cNvPicPr preferRelativeResize="0"/>
          <p:nvPr/>
        </p:nvPicPr>
        <p:blipFill rotWithShape="1">
          <a:blip r:embed="rId5">
            <a:alphaModFix/>
          </a:blip>
          <a:srcRect r="-2147483648" b="-2147483648"/>
          <a:stretch/>
        </p:blipFill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19"/>
          <p:cNvGrpSpPr/>
          <p:nvPr/>
        </p:nvGrpSpPr>
        <p:grpSpPr>
          <a:xfrm>
            <a:off x="381000" y="1047750"/>
            <a:ext cx="4048200" cy="3667200"/>
            <a:chOff x="381000" y="1047750"/>
            <a:chExt cx="4048200" cy="3667200"/>
          </a:xfrm>
        </p:grpSpPr>
        <p:sp>
          <p:nvSpPr>
            <p:cNvPr id="195" name="Google Shape;195;p19"/>
            <p:cNvSpPr/>
            <p:nvPr/>
          </p:nvSpPr>
          <p:spPr>
            <a:xfrm>
              <a:off x="381000" y="1047750"/>
              <a:ext cx="4048200" cy="3667200"/>
            </a:xfrm>
            <a:prstGeom prst="roundRect">
              <a:avLst>
                <a:gd name="adj" fmla="val 311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9"/>
            <p:cNvSpPr txBox="1"/>
            <p:nvPr/>
          </p:nvSpPr>
          <p:spPr>
            <a:xfrm>
              <a:off x="619125" y="1285875"/>
              <a:ext cx="3571800" cy="319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Frontend &amp; Integration</a:t>
              </a:r>
              <a:endParaRPr sz="20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lvl="0" indent="-285750" algn="l" rtl="0">
                <a:spcBef>
                  <a:spcPts val="1500"/>
                </a:spcBef>
                <a:spcAft>
                  <a:spcPts val="0"/>
                </a:spcAft>
                <a:buFont typeface="Courier New" panose="02070309020205020404" pitchFamily="49" charset="0"/>
                <a:buChar char="o"/>
              </a:pPr>
              <a:r>
                <a:rPr lang="en-GB" sz="140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HTML5 &amp; CSS3 (UI/UX)</a:t>
              </a:r>
              <a:endParaRPr sz="140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lvl="0" indent="-285750" algn="l" rtl="0">
                <a:spcBef>
                  <a:spcPts val="1125"/>
                </a:spcBef>
                <a:spcAft>
                  <a:spcPts val="0"/>
                </a:spcAft>
                <a:buFont typeface="Courier New" panose="02070309020205020404" pitchFamily="49" charset="0"/>
                <a:buChar char="o"/>
              </a:pPr>
              <a:r>
                <a:rPr lang="en-GB" sz="140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JavaScript (Interactive Elements)</a:t>
              </a:r>
              <a:endParaRPr sz="140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lvl="0" indent="-285750" algn="l" rtl="0">
                <a:spcBef>
                  <a:spcPts val="1125"/>
                </a:spcBef>
                <a:spcAft>
                  <a:spcPts val="0"/>
                </a:spcAft>
                <a:buFont typeface="Courier New" panose="02070309020205020404" pitchFamily="49" charset="0"/>
                <a:buChar char="o"/>
              </a:pPr>
              <a:r>
                <a:rPr lang="en-GB" sz="140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Automated Data Harvesting APIs</a:t>
              </a:r>
              <a:endParaRPr sz="140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" name="Google Shape;197;p19"/>
          <p:cNvGrpSpPr/>
          <p:nvPr/>
        </p:nvGrpSpPr>
        <p:grpSpPr>
          <a:xfrm>
            <a:off x="4714875" y="1047750"/>
            <a:ext cx="4048200" cy="3667200"/>
            <a:chOff x="4714875" y="1047750"/>
            <a:chExt cx="4048200" cy="3667200"/>
          </a:xfrm>
        </p:grpSpPr>
        <p:sp>
          <p:nvSpPr>
            <p:cNvPr id="198" name="Google Shape;198;p19"/>
            <p:cNvSpPr/>
            <p:nvPr/>
          </p:nvSpPr>
          <p:spPr>
            <a:xfrm>
              <a:off x="4714875" y="1047750"/>
              <a:ext cx="4048200" cy="3667200"/>
            </a:xfrm>
            <a:prstGeom prst="roundRect">
              <a:avLst>
                <a:gd name="adj" fmla="val 311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9"/>
            <p:cNvSpPr txBox="1"/>
            <p:nvPr/>
          </p:nvSpPr>
          <p:spPr>
            <a:xfrm>
              <a:off x="4953000" y="1285875"/>
              <a:ext cx="3571800" cy="319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AI &amp; Data Science</a:t>
              </a:r>
              <a:endParaRPr sz="20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lvl="0" indent="-285750" algn="l" rtl="0">
                <a:spcBef>
                  <a:spcPts val="1500"/>
                </a:spcBef>
                <a:spcAft>
                  <a:spcPts val="0"/>
                </a:spcAft>
                <a:buFont typeface="Courier New" panose="02070309020205020404" pitchFamily="49" charset="0"/>
                <a:buChar char="o"/>
              </a:pPr>
              <a:r>
                <a:rPr lang="en-GB" sz="140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Pandas &amp; NumPy (Processing)</a:t>
              </a:r>
              <a:endParaRPr sz="140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lvl="0" indent="-285750" algn="l" rtl="0">
                <a:spcBef>
                  <a:spcPts val="1125"/>
                </a:spcBef>
                <a:spcAft>
                  <a:spcPts val="0"/>
                </a:spcAft>
                <a:buFont typeface="Courier New" panose="02070309020205020404" pitchFamily="49" charset="0"/>
                <a:buChar char="o"/>
              </a:pPr>
              <a:r>
                <a:rPr lang="en-GB" sz="140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Matplotlib &amp; Seaborn (Viz)</a:t>
              </a:r>
              <a:endParaRPr sz="140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49CE4A7-7515-680E-6EE7-726A8C337B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854" y="1088651"/>
            <a:ext cx="905001" cy="790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A950F5-9F7E-FA35-8F3E-71A617611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8519" y="1150861"/>
            <a:ext cx="905001" cy="7811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0" y="5000625"/>
            <a:ext cx="9144000" cy="142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6" name="Google Shape;206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29425" y="176213"/>
            <a:ext cx="17670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381000" y="0"/>
            <a:ext cx="5715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Gap Analysis</a:t>
            </a:r>
            <a:endParaRPr sz="32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8" name="Google Shape;208;p20"/>
          <p:cNvGrpSpPr/>
          <p:nvPr/>
        </p:nvGrpSpPr>
        <p:grpSpPr>
          <a:xfrm>
            <a:off x="381000" y="1047750"/>
            <a:ext cx="4095900" cy="1666800"/>
            <a:chOff x="381000" y="1047750"/>
            <a:chExt cx="4095900" cy="1666800"/>
          </a:xfrm>
        </p:grpSpPr>
        <p:sp>
          <p:nvSpPr>
            <p:cNvPr id="209" name="Google Shape;209;p20"/>
            <p:cNvSpPr/>
            <p:nvPr/>
          </p:nvSpPr>
          <p:spPr>
            <a:xfrm>
              <a:off x="381000" y="1047750"/>
              <a:ext cx="4095900" cy="1666800"/>
            </a:xfrm>
            <a:prstGeom prst="roundRect">
              <a:avLst>
                <a:gd name="adj" fmla="val 685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571500" y="1238250"/>
              <a:ext cx="3714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14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Van Niekerk (2006)</a:t>
              </a:r>
              <a:endParaRPr sz="14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2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Lack of clarity in DRR/DM terminologies and sectoral collaboration.</a:t>
              </a:r>
              <a:endParaRPr sz="1200" b="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" name="Google Shape;211;p20"/>
          <p:cNvGrpSpPr/>
          <p:nvPr/>
        </p:nvGrpSpPr>
        <p:grpSpPr>
          <a:xfrm>
            <a:off x="4667250" y="1047750"/>
            <a:ext cx="4095900" cy="1666800"/>
            <a:chOff x="4667250" y="1047750"/>
            <a:chExt cx="4095900" cy="1666800"/>
          </a:xfrm>
        </p:grpSpPr>
        <p:sp>
          <p:nvSpPr>
            <p:cNvPr id="212" name="Google Shape;212;p20"/>
            <p:cNvSpPr/>
            <p:nvPr/>
          </p:nvSpPr>
          <p:spPr>
            <a:xfrm>
              <a:off x="4667250" y="1047750"/>
              <a:ext cx="4095900" cy="1666800"/>
            </a:xfrm>
            <a:prstGeom prst="roundRect">
              <a:avLst>
                <a:gd name="adj" fmla="val 685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4857750" y="1238250"/>
              <a:ext cx="3714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14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Wen et al. (2023)</a:t>
              </a:r>
              <a:endParaRPr sz="14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2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Limited integration of DRR and Climate Change Adaptation (CCA).</a:t>
              </a:r>
              <a:endParaRPr sz="1200" b="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" name="Google Shape;214;p20"/>
          <p:cNvGrpSpPr/>
          <p:nvPr/>
        </p:nvGrpSpPr>
        <p:grpSpPr>
          <a:xfrm>
            <a:off x="381000" y="2905125"/>
            <a:ext cx="4095900" cy="1666800"/>
            <a:chOff x="381000" y="2905125"/>
            <a:chExt cx="4095900" cy="1666800"/>
          </a:xfrm>
        </p:grpSpPr>
        <p:sp>
          <p:nvSpPr>
            <p:cNvPr id="215" name="Google Shape;215;p20"/>
            <p:cNvSpPr/>
            <p:nvPr/>
          </p:nvSpPr>
          <p:spPr>
            <a:xfrm>
              <a:off x="381000" y="2905125"/>
              <a:ext cx="4095900" cy="1666800"/>
            </a:xfrm>
            <a:prstGeom prst="roundRect">
              <a:avLst>
                <a:gd name="adj" fmla="val 685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571500" y="3095625"/>
              <a:ext cx="3714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14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Shi et al. (2020)</a:t>
              </a:r>
              <a:endParaRPr sz="14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2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Need for standardized disaster risk assessment methodologies.</a:t>
              </a:r>
              <a:endParaRPr sz="1200" b="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" name="Google Shape;217;p20"/>
          <p:cNvGrpSpPr/>
          <p:nvPr/>
        </p:nvGrpSpPr>
        <p:grpSpPr>
          <a:xfrm>
            <a:off x="4667250" y="2905125"/>
            <a:ext cx="4095900" cy="1666800"/>
            <a:chOff x="4667250" y="2905125"/>
            <a:chExt cx="4095900" cy="1666800"/>
          </a:xfrm>
        </p:grpSpPr>
        <p:sp>
          <p:nvSpPr>
            <p:cNvPr id="218" name="Google Shape;218;p20"/>
            <p:cNvSpPr/>
            <p:nvPr/>
          </p:nvSpPr>
          <p:spPr>
            <a:xfrm>
              <a:off x="4667250" y="2905125"/>
              <a:ext cx="4095900" cy="1666800"/>
            </a:xfrm>
            <a:prstGeom prst="roundRect">
              <a:avLst>
                <a:gd name="adj" fmla="val 685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4857750" y="3095625"/>
              <a:ext cx="3714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14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Najafi et al. (2024)</a:t>
              </a:r>
              <a:endParaRPr sz="14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2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Computational efficiency challenges in high-res flood simulations.</a:t>
              </a:r>
              <a:endParaRPr sz="1200" b="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B71D9E9-00CC-31D1-9850-2F2EC0A26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850" y="1223823"/>
            <a:ext cx="695422" cy="4858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057C9B-C125-DE6E-5233-BCAC0E7714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7606" y="1157139"/>
            <a:ext cx="676369" cy="552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D0BC88-81AF-CF46-88BC-2CC1C97911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482" y="3045542"/>
            <a:ext cx="647790" cy="533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6D196D-018A-F8DA-9BAC-B3E4F3B4FB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1421" y="3045540"/>
            <a:ext cx="628738" cy="6192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0" y="5000625"/>
            <a:ext cx="9144000" cy="142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6" name="Google Shape;22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29425" y="176213"/>
            <a:ext cx="17670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381000" y="0"/>
            <a:ext cx="5715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Workflow</a:t>
            </a:r>
            <a:endParaRPr sz="32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" name="Google Shape;228;p21"/>
          <p:cNvGrpSpPr/>
          <p:nvPr/>
        </p:nvGrpSpPr>
        <p:grpSpPr>
          <a:xfrm>
            <a:off x="381000" y="1047750"/>
            <a:ext cx="8382000" cy="654252"/>
            <a:chOff x="381000" y="1047750"/>
            <a:chExt cx="8382000" cy="654252"/>
          </a:xfrm>
        </p:grpSpPr>
        <p:sp>
          <p:nvSpPr>
            <p:cNvPr id="229" name="Google Shape;229;p21"/>
            <p:cNvSpPr/>
            <p:nvPr/>
          </p:nvSpPr>
          <p:spPr>
            <a:xfrm>
              <a:off x="381000" y="1047750"/>
              <a:ext cx="8382000" cy="619200"/>
            </a:xfrm>
            <a:prstGeom prst="roundRect">
              <a:avLst>
                <a:gd name="adj" fmla="val 12307"/>
              </a:avLst>
            </a:prstGeom>
            <a:solidFill>
              <a:srgbClr val="FFF5F5"/>
            </a:solidFill>
            <a:ln w="9525" cap="flat" cmpd="sng">
              <a:solidFill>
                <a:srgbClr val="FF4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571500" y="1082802"/>
              <a:ext cx="762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1" name="Google Shape;231;p21"/>
            <p:cNvSpPr txBox="1"/>
            <p:nvPr/>
          </p:nvSpPr>
          <p:spPr>
            <a:xfrm>
              <a:off x="1524000" y="1047750"/>
              <a:ext cx="704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Data Collection</a:t>
              </a:r>
              <a:endParaRPr sz="16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Government reports &amp; user queries integrated.</a:t>
              </a:r>
              <a:endParaRPr sz="11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21"/>
          <p:cNvGrpSpPr/>
          <p:nvPr/>
        </p:nvGrpSpPr>
        <p:grpSpPr>
          <a:xfrm>
            <a:off x="381000" y="1809750"/>
            <a:ext cx="8382000" cy="654252"/>
            <a:chOff x="381000" y="1809750"/>
            <a:chExt cx="8382000" cy="654252"/>
          </a:xfrm>
        </p:grpSpPr>
        <p:sp>
          <p:nvSpPr>
            <p:cNvPr id="233" name="Google Shape;233;p21"/>
            <p:cNvSpPr/>
            <p:nvPr/>
          </p:nvSpPr>
          <p:spPr>
            <a:xfrm>
              <a:off x="381000" y="1809750"/>
              <a:ext cx="8382000" cy="619200"/>
            </a:xfrm>
            <a:prstGeom prst="roundRect">
              <a:avLst>
                <a:gd name="adj" fmla="val 12307"/>
              </a:avLst>
            </a:prstGeom>
            <a:solidFill>
              <a:srgbClr val="FFFFFF"/>
            </a:solidFill>
            <a:ln w="9525" cap="flat" cmpd="sng">
              <a:solidFill>
                <a:srgbClr val="FF4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1"/>
            <p:cNvSpPr txBox="1"/>
            <p:nvPr/>
          </p:nvSpPr>
          <p:spPr>
            <a:xfrm>
              <a:off x="571500" y="1844802"/>
              <a:ext cx="762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5" name="Google Shape;235;p21"/>
            <p:cNvSpPr txBox="1"/>
            <p:nvPr/>
          </p:nvSpPr>
          <p:spPr>
            <a:xfrm>
              <a:off x="1524000" y="1809750"/>
              <a:ext cx="704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Data Storage</a:t>
              </a:r>
              <a:endParaRPr sz="16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Structured DB for hospitals &amp; contacts.</a:t>
              </a:r>
              <a:endParaRPr sz="11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" name="Google Shape;236;p21"/>
          <p:cNvGrpSpPr/>
          <p:nvPr/>
        </p:nvGrpSpPr>
        <p:grpSpPr>
          <a:xfrm>
            <a:off x="381000" y="2571750"/>
            <a:ext cx="8382000" cy="1451304"/>
            <a:chOff x="381000" y="2571750"/>
            <a:chExt cx="8382000" cy="1451304"/>
          </a:xfrm>
        </p:grpSpPr>
        <p:sp>
          <p:nvSpPr>
            <p:cNvPr id="237" name="Google Shape;237;p21"/>
            <p:cNvSpPr/>
            <p:nvPr/>
          </p:nvSpPr>
          <p:spPr>
            <a:xfrm>
              <a:off x="381000" y="2571750"/>
              <a:ext cx="8382000" cy="619200"/>
            </a:xfrm>
            <a:prstGeom prst="roundRect">
              <a:avLst>
                <a:gd name="adj" fmla="val 12307"/>
              </a:avLst>
            </a:prstGeom>
            <a:solidFill>
              <a:srgbClr val="FFF5F5"/>
            </a:solidFill>
            <a:ln w="9525" cap="flat" cmpd="sng">
              <a:solidFill>
                <a:srgbClr val="FF4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1"/>
            <p:cNvSpPr txBox="1"/>
            <p:nvPr/>
          </p:nvSpPr>
          <p:spPr>
            <a:xfrm flipV="1">
              <a:off x="571500" y="3226002"/>
              <a:ext cx="762000" cy="7970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9" name="Google Shape;239;p21"/>
            <p:cNvSpPr txBox="1"/>
            <p:nvPr/>
          </p:nvSpPr>
          <p:spPr>
            <a:xfrm>
              <a:off x="1524000" y="2571750"/>
              <a:ext cx="704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Alert Gen</a:t>
              </a:r>
              <a:endParaRPr sz="16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General Advisory vs. Emergency Alerts.</a:t>
              </a:r>
              <a:endParaRPr sz="11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" name="Google Shape;240;p21"/>
          <p:cNvGrpSpPr/>
          <p:nvPr/>
        </p:nvGrpSpPr>
        <p:grpSpPr>
          <a:xfrm>
            <a:off x="381000" y="3333750"/>
            <a:ext cx="8382000" cy="654252"/>
            <a:chOff x="381000" y="3333750"/>
            <a:chExt cx="8382000" cy="654252"/>
          </a:xfrm>
        </p:grpSpPr>
        <p:sp>
          <p:nvSpPr>
            <p:cNvPr id="241" name="Google Shape;241;p21"/>
            <p:cNvSpPr/>
            <p:nvPr/>
          </p:nvSpPr>
          <p:spPr>
            <a:xfrm>
              <a:off x="381000" y="3333750"/>
              <a:ext cx="8382000" cy="619200"/>
            </a:xfrm>
            <a:prstGeom prst="roundRect">
              <a:avLst>
                <a:gd name="adj" fmla="val 12307"/>
              </a:avLst>
            </a:prstGeom>
            <a:solidFill>
              <a:srgbClr val="FFFFFF"/>
            </a:solidFill>
            <a:ln w="9525" cap="flat" cmpd="sng">
              <a:solidFill>
                <a:srgbClr val="FF4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571500" y="3368802"/>
              <a:ext cx="762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3" name="Google Shape;243;p21"/>
            <p:cNvSpPr txBox="1"/>
            <p:nvPr/>
          </p:nvSpPr>
          <p:spPr>
            <a:xfrm>
              <a:off x="1524000" y="3333750"/>
              <a:ext cx="704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User Portal</a:t>
              </a:r>
              <a:endParaRPr sz="16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Chatbot interaction &amp; live alerts display.</a:t>
              </a:r>
              <a:endParaRPr sz="11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4" name="Google Shape;244;p21"/>
          <p:cNvGrpSpPr/>
          <p:nvPr/>
        </p:nvGrpSpPr>
        <p:grpSpPr>
          <a:xfrm>
            <a:off x="381000" y="4095750"/>
            <a:ext cx="8382000" cy="654252"/>
            <a:chOff x="381000" y="4095750"/>
            <a:chExt cx="8382000" cy="654252"/>
          </a:xfrm>
        </p:grpSpPr>
        <p:sp>
          <p:nvSpPr>
            <p:cNvPr id="245" name="Google Shape;245;p21"/>
            <p:cNvSpPr/>
            <p:nvPr/>
          </p:nvSpPr>
          <p:spPr>
            <a:xfrm>
              <a:off x="381000" y="4095750"/>
              <a:ext cx="8382000" cy="619200"/>
            </a:xfrm>
            <a:prstGeom prst="roundRect">
              <a:avLst>
                <a:gd name="adj" fmla="val 12307"/>
              </a:avLst>
            </a:prstGeom>
            <a:solidFill>
              <a:srgbClr val="FFF5F5"/>
            </a:solidFill>
            <a:ln w="9525" cap="flat" cmpd="sng">
              <a:solidFill>
                <a:srgbClr val="FF4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1"/>
            <p:cNvSpPr txBox="1"/>
            <p:nvPr/>
          </p:nvSpPr>
          <p:spPr>
            <a:xfrm>
              <a:off x="571500" y="4130802"/>
              <a:ext cx="762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7" name="Google Shape;247;p21"/>
            <p:cNvSpPr txBox="1"/>
            <p:nvPr/>
          </p:nvSpPr>
          <p:spPr>
            <a:xfrm>
              <a:off x="1524000" y="4095750"/>
              <a:ext cx="704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Feedback</a:t>
              </a:r>
              <a:endParaRPr sz="16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Store feedback to improve system response.</a:t>
              </a:r>
              <a:endParaRPr sz="11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483D498-C32D-81B0-69B0-A97EB592D1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76" y="1171601"/>
            <a:ext cx="552527" cy="352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272A2A-CA0A-31E5-8A37-CBCFC8491B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333" y="1876428"/>
            <a:ext cx="619211" cy="485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9D754D-891E-D632-5B86-3CB6BD0E0A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31" y="2606802"/>
            <a:ext cx="628738" cy="5620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B82136-0E5F-160C-D312-9BAFD8DD0D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279" y="3357560"/>
            <a:ext cx="657317" cy="571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26DB4E-AC30-6B3D-2615-0B8E859377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055" y="4129086"/>
            <a:ext cx="733527" cy="5525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0" y="5000625"/>
            <a:ext cx="9144000" cy="142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4" name="Google Shape;254;p22"/>
          <p:cNvPicPr preferRelativeResize="0"/>
          <p:nvPr/>
        </p:nvPicPr>
        <p:blipFill rotWithShape="1">
          <a:blip r:embed="rId4">
            <a:alphaModFix/>
          </a:blip>
          <a:srcRect l="10" r="10"/>
          <a:stretch/>
        </p:blipFill>
        <p:spPr>
          <a:xfrm>
            <a:off x="6829425" y="176213"/>
            <a:ext cx="17670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381000" y="0"/>
            <a:ext cx="6191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Performance Metric Comparison</a:t>
            </a:r>
            <a:endParaRPr sz="28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6" name="Google Shape;256;p22"/>
          <p:cNvGrpSpPr/>
          <p:nvPr/>
        </p:nvGrpSpPr>
        <p:grpSpPr>
          <a:xfrm>
            <a:off x="381000" y="1047750"/>
            <a:ext cx="8382075" cy="3810000"/>
            <a:chOff x="381000" y="1047750"/>
            <a:chExt cx="8382075" cy="3810000"/>
          </a:xfrm>
        </p:grpSpPr>
        <p:sp>
          <p:nvSpPr>
            <p:cNvPr id="257" name="Google Shape;257;p22"/>
            <p:cNvSpPr/>
            <p:nvPr/>
          </p:nvSpPr>
          <p:spPr>
            <a:xfrm>
              <a:off x="381000" y="1047750"/>
              <a:ext cx="8382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2"/>
            <p:cNvSpPr/>
            <p:nvPr/>
          </p:nvSpPr>
          <p:spPr>
            <a:xfrm>
              <a:off x="381000" y="1047750"/>
              <a:ext cx="8382000" cy="476400"/>
            </a:xfrm>
            <a:prstGeom prst="roundRect">
              <a:avLst>
                <a:gd name="adj" fmla="val 24000"/>
              </a:avLst>
            </a:prstGeom>
            <a:solidFill>
              <a:srgbClr val="F9FAF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2"/>
            <p:cNvSpPr/>
            <p:nvPr/>
          </p:nvSpPr>
          <p:spPr>
            <a:xfrm>
              <a:off x="381000" y="1381125"/>
              <a:ext cx="8382000" cy="142800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0" name="Google Shape;260;p22"/>
            <p:cNvCxnSpPr/>
            <p:nvPr/>
          </p:nvCxnSpPr>
          <p:spPr>
            <a:xfrm>
              <a:off x="381000" y="15240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1" name="Google Shape;261;p22"/>
            <p:cNvCxnSpPr/>
            <p:nvPr/>
          </p:nvCxnSpPr>
          <p:spPr>
            <a:xfrm>
              <a:off x="381000" y="21907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2" name="Google Shape;262;p22"/>
            <p:cNvCxnSpPr/>
            <p:nvPr/>
          </p:nvCxnSpPr>
          <p:spPr>
            <a:xfrm>
              <a:off x="381000" y="2857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3" name="Google Shape;263;p22"/>
            <p:cNvCxnSpPr/>
            <p:nvPr/>
          </p:nvCxnSpPr>
          <p:spPr>
            <a:xfrm>
              <a:off x="381000" y="35242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4" name="Google Shape;264;p22"/>
            <p:cNvSpPr txBox="1"/>
            <p:nvPr/>
          </p:nvSpPr>
          <p:spPr>
            <a:xfrm>
              <a:off x="381000" y="1047750"/>
              <a:ext cx="2095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Model</a:t>
              </a:r>
              <a:endParaRPr sz="1300" b="1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2"/>
            <p:cNvSpPr txBox="1"/>
            <p:nvPr/>
          </p:nvSpPr>
          <p:spPr>
            <a:xfrm>
              <a:off x="2476500" y="1047750"/>
              <a:ext cx="1571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R² (Test)</a:t>
              </a:r>
              <a:endParaRPr sz="1300" b="1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2"/>
            <p:cNvSpPr txBox="1"/>
            <p:nvPr/>
          </p:nvSpPr>
          <p:spPr>
            <a:xfrm>
              <a:off x="4048125" y="1047750"/>
              <a:ext cx="1571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MAE</a:t>
              </a:r>
              <a:endParaRPr sz="1300" b="1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2"/>
            <p:cNvSpPr txBox="1"/>
            <p:nvPr/>
          </p:nvSpPr>
          <p:spPr>
            <a:xfrm>
              <a:off x="5619750" y="1047750"/>
              <a:ext cx="1571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RMSE</a:t>
              </a:r>
              <a:endParaRPr sz="1300" b="1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2"/>
            <p:cNvSpPr txBox="1"/>
            <p:nvPr/>
          </p:nvSpPr>
          <p:spPr>
            <a:xfrm>
              <a:off x="7191375" y="1047750"/>
              <a:ext cx="1571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R² (Train)</a:t>
              </a:r>
              <a:endParaRPr sz="1300" b="1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9" name="Google Shape;269;p22"/>
            <p:cNvGrpSpPr/>
            <p:nvPr/>
          </p:nvGrpSpPr>
          <p:grpSpPr>
            <a:xfrm>
              <a:off x="381000" y="1524000"/>
              <a:ext cx="8382075" cy="666900"/>
              <a:chOff x="381000" y="1524000"/>
              <a:chExt cx="8382075" cy="666900"/>
            </a:xfrm>
          </p:grpSpPr>
          <p:sp>
            <p:nvSpPr>
              <p:cNvPr id="270" name="Google Shape;270;p22"/>
              <p:cNvSpPr txBox="1"/>
              <p:nvPr/>
            </p:nvSpPr>
            <p:spPr>
              <a:xfrm>
                <a:off x="381000" y="1524000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 b="1">
                    <a:solidFill>
                      <a:srgbClr val="111827"/>
                    </a:solidFill>
                    <a:latin typeface="Arial"/>
                    <a:ea typeface="Arial"/>
                    <a:cs typeface="Arial"/>
                    <a:sym typeface="Arial"/>
                  </a:rPr>
                  <a:t>Linear Regression</a:t>
                </a:r>
                <a:endParaRPr sz="12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22"/>
              <p:cNvSpPr txBox="1"/>
              <p:nvPr/>
            </p:nvSpPr>
            <p:spPr>
              <a:xfrm>
                <a:off x="2476500" y="152400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-7.086</a:t>
                </a:r>
                <a:endPara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22"/>
              <p:cNvSpPr txBox="1"/>
              <p:nvPr/>
            </p:nvSpPr>
            <p:spPr>
              <a:xfrm>
                <a:off x="4048125" y="152400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9.56</a:t>
                </a:r>
                <a:endPara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22"/>
              <p:cNvSpPr txBox="1"/>
              <p:nvPr/>
            </p:nvSpPr>
            <p:spPr>
              <a:xfrm>
                <a:off x="5619750" y="152400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10.12</a:t>
                </a:r>
                <a:endPara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22"/>
              <p:cNvSpPr txBox="1"/>
              <p:nvPr/>
            </p:nvSpPr>
            <p:spPr>
              <a:xfrm>
                <a:off x="7191375" y="152400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0.722</a:t>
                </a:r>
                <a:endPara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5" name="Google Shape;275;p22"/>
            <p:cNvGrpSpPr/>
            <p:nvPr/>
          </p:nvGrpSpPr>
          <p:grpSpPr>
            <a:xfrm>
              <a:off x="381000" y="2190750"/>
              <a:ext cx="8382075" cy="666900"/>
              <a:chOff x="381000" y="2190750"/>
              <a:chExt cx="8382075" cy="666900"/>
            </a:xfrm>
          </p:grpSpPr>
          <p:sp>
            <p:nvSpPr>
              <p:cNvPr id="276" name="Google Shape;276;p22"/>
              <p:cNvSpPr txBox="1"/>
              <p:nvPr/>
            </p:nvSpPr>
            <p:spPr>
              <a:xfrm>
                <a:off x="381000" y="2190750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 b="1">
                    <a:solidFill>
                      <a:srgbClr val="111827"/>
                    </a:solidFill>
                    <a:latin typeface="Arial"/>
                    <a:ea typeface="Arial"/>
                    <a:cs typeface="Arial"/>
                    <a:sym typeface="Arial"/>
                  </a:rPr>
                  <a:t>Polynomial (deg-2)</a:t>
                </a:r>
                <a:endParaRPr sz="12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22"/>
              <p:cNvSpPr txBox="1"/>
              <p:nvPr/>
            </p:nvSpPr>
            <p:spPr>
              <a:xfrm>
                <a:off x="2476500" y="219075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-2.246</a:t>
                </a:r>
                <a:endPara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22"/>
              <p:cNvSpPr txBox="1"/>
              <p:nvPr/>
            </p:nvSpPr>
            <p:spPr>
              <a:xfrm>
                <a:off x="4048125" y="219075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5.60</a:t>
                </a:r>
                <a:endPara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22"/>
              <p:cNvSpPr txBox="1"/>
              <p:nvPr/>
            </p:nvSpPr>
            <p:spPr>
              <a:xfrm>
                <a:off x="5619750" y="219075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6.41</a:t>
                </a:r>
                <a:endPara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22"/>
              <p:cNvSpPr txBox="1"/>
              <p:nvPr/>
            </p:nvSpPr>
            <p:spPr>
              <a:xfrm>
                <a:off x="7191375" y="219075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0.798</a:t>
                </a:r>
                <a:endPara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1" name="Google Shape;281;p22"/>
            <p:cNvGrpSpPr/>
            <p:nvPr/>
          </p:nvGrpSpPr>
          <p:grpSpPr>
            <a:xfrm>
              <a:off x="381000" y="2857500"/>
              <a:ext cx="8382075" cy="666900"/>
              <a:chOff x="381000" y="2857500"/>
              <a:chExt cx="8382075" cy="666900"/>
            </a:xfrm>
          </p:grpSpPr>
          <p:sp>
            <p:nvSpPr>
              <p:cNvPr id="282" name="Google Shape;282;p22"/>
              <p:cNvSpPr txBox="1"/>
              <p:nvPr/>
            </p:nvSpPr>
            <p:spPr>
              <a:xfrm>
                <a:off x="381000" y="2857500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 b="1">
                    <a:solidFill>
                      <a:srgbClr val="111827"/>
                    </a:solidFill>
                    <a:latin typeface="Arial"/>
                    <a:ea typeface="Arial"/>
                    <a:cs typeface="Arial"/>
                    <a:sym typeface="Arial"/>
                  </a:rPr>
                  <a:t>Random Forest</a:t>
                </a:r>
                <a:endParaRPr sz="12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22"/>
              <p:cNvSpPr txBox="1"/>
              <p:nvPr/>
            </p:nvSpPr>
            <p:spPr>
              <a:xfrm>
                <a:off x="2476500" y="285750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-6.443</a:t>
                </a:r>
                <a:endPara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22"/>
              <p:cNvSpPr txBox="1"/>
              <p:nvPr/>
            </p:nvSpPr>
            <p:spPr>
              <a:xfrm>
                <a:off x="4048125" y="285750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9.04</a:t>
                </a:r>
                <a:endPara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22"/>
              <p:cNvSpPr txBox="1"/>
              <p:nvPr/>
            </p:nvSpPr>
            <p:spPr>
              <a:xfrm>
                <a:off x="5619750" y="285750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9.71</a:t>
                </a:r>
                <a:endPara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22"/>
              <p:cNvSpPr txBox="1"/>
              <p:nvPr/>
            </p:nvSpPr>
            <p:spPr>
              <a:xfrm>
                <a:off x="7191375" y="285750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0.930</a:t>
                </a:r>
                <a:endPara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7" name="Google Shape;287;p22"/>
            <p:cNvGrpSpPr/>
            <p:nvPr/>
          </p:nvGrpSpPr>
          <p:grpSpPr>
            <a:xfrm>
              <a:off x="381000" y="3524250"/>
              <a:ext cx="8382075" cy="666900"/>
              <a:chOff x="381000" y="3524250"/>
              <a:chExt cx="8382075" cy="666900"/>
            </a:xfrm>
          </p:grpSpPr>
          <p:sp>
            <p:nvSpPr>
              <p:cNvPr id="288" name="Google Shape;288;p22"/>
              <p:cNvSpPr txBox="1"/>
              <p:nvPr/>
            </p:nvSpPr>
            <p:spPr>
              <a:xfrm>
                <a:off x="381000" y="3524250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 b="1">
                    <a:solidFill>
                      <a:srgbClr val="111827"/>
                    </a:solidFill>
                    <a:latin typeface="Arial"/>
                    <a:ea typeface="Arial"/>
                    <a:cs typeface="Arial"/>
                    <a:sym typeface="Arial"/>
                  </a:rPr>
                  <a:t>Gradient Boosting</a:t>
                </a:r>
                <a:endParaRPr sz="12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22"/>
              <p:cNvSpPr txBox="1"/>
              <p:nvPr/>
            </p:nvSpPr>
            <p:spPr>
              <a:xfrm>
                <a:off x="2476500" y="352425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-6.403</a:t>
                </a:r>
                <a:endPara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22"/>
              <p:cNvSpPr txBox="1"/>
              <p:nvPr/>
            </p:nvSpPr>
            <p:spPr>
              <a:xfrm>
                <a:off x="4048125" y="352425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9.01</a:t>
                </a:r>
                <a:endPara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22"/>
              <p:cNvSpPr txBox="1"/>
              <p:nvPr/>
            </p:nvSpPr>
            <p:spPr>
              <a:xfrm>
                <a:off x="5619750" y="352425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9.68</a:t>
                </a:r>
                <a:endPara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22"/>
              <p:cNvSpPr txBox="1"/>
              <p:nvPr/>
            </p:nvSpPr>
            <p:spPr>
              <a:xfrm>
                <a:off x="7191375" y="352425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1.000</a:t>
                </a:r>
                <a:endPara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0" y="5000625"/>
            <a:ext cx="9144000" cy="142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9" name="Google Shape;29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29425" y="176213"/>
            <a:ext cx="17670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 txBox="1"/>
          <p:nvPr/>
        </p:nvSpPr>
        <p:spPr>
          <a:xfrm>
            <a:off x="381000" y="0"/>
            <a:ext cx="5715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2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Exploratory Data Analysis (EDA)</a:t>
            </a:r>
            <a:endParaRPr sz="272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23"/>
          <p:cNvPicPr preferRelativeResize="0"/>
          <p:nvPr/>
        </p:nvPicPr>
        <p:blipFill rotWithShape="1">
          <a:blip r:embed="rId5">
            <a:alphaModFix/>
          </a:blip>
          <a:srcRect t="14388" b="14381"/>
          <a:stretch/>
        </p:blipFill>
        <p:spPr>
          <a:xfrm>
            <a:off x="381000" y="952500"/>
            <a:ext cx="8382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175" y="762000"/>
            <a:ext cx="8472825" cy="423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4"/>
          <p:cNvSpPr/>
          <p:nvPr/>
        </p:nvSpPr>
        <p:spPr>
          <a:xfrm>
            <a:off x="0" y="5000625"/>
            <a:ext cx="9144000" cy="142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9" name="Google Shape;309;p24"/>
          <p:cNvPicPr preferRelativeResize="0"/>
          <p:nvPr/>
        </p:nvPicPr>
        <p:blipFill rotWithShape="1">
          <a:blip r:embed="rId4">
            <a:alphaModFix/>
          </a:blip>
          <a:srcRect l="10" r="10"/>
          <a:stretch/>
        </p:blipFill>
        <p:spPr>
          <a:xfrm>
            <a:off x="6829425" y="176213"/>
            <a:ext cx="17670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4"/>
          <p:cNvSpPr txBox="1"/>
          <p:nvPr/>
        </p:nvSpPr>
        <p:spPr>
          <a:xfrm>
            <a:off x="381000" y="0"/>
            <a:ext cx="5715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Proposed Workflow Process</a:t>
            </a:r>
            <a:endParaRPr sz="32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" name="Google Shape;311;p24"/>
          <p:cNvGrpSpPr/>
          <p:nvPr/>
        </p:nvGrpSpPr>
        <p:grpSpPr>
          <a:xfrm>
            <a:off x="381000" y="1047750"/>
            <a:ext cx="8382000" cy="654252"/>
            <a:chOff x="381000" y="1047750"/>
            <a:chExt cx="8382000" cy="654252"/>
          </a:xfrm>
        </p:grpSpPr>
        <p:sp>
          <p:nvSpPr>
            <p:cNvPr id="312" name="Google Shape;312;p24"/>
            <p:cNvSpPr/>
            <p:nvPr/>
          </p:nvSpPr>
          <p:spPr>
            <a:xfrm>
              <a:off x="381000" y="1047750"/>
              <a:ext cx="8382000" cy="619200"/>
            </a:xfrm>
            <a:prstGeom prst="roundRect">
              <a:avLst>
                <a:gd name="adj" fmla="val 12307"/>
              </a:avLst>
            </a:prstGeom>
            <a:solidFill>
              <a:srgbClr val="FFF5F5"/>
            </a:solidFill>
            <a:ln w="9525" cap="flat" cmpd="sng">
              <a:solidFill>
                <a:srgbClr val="FF4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4"/>
            <p:cNvSpPr txBox="1"/>
            <p:nvPr/>
          </p:nvSpPr>
          <p:spPr>
            <a:xfrm>
              <a:off x="571500" y="1082802"/>
              <a:ext cx="1143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4" name="Google Shape;314;p24"/>
            <p:cNvSpPr txBox="1"/>
            <p:nvPr/>
          </p:nvSpPr>
          <p:spPr>
            <a:xfrm>
              <a:off x="1714500" y="1047750"/>
              <a:ext cx="685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Fetch Data</a:t>
              </a:r>
              <a:endParaRPr sz="16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Meteorological &amp; Government Reports</a:t>
              </a:r>
              <a:endParaRPr sz="11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24"/>
          <p:cNvGrpSpPr/>
          <p:nvPr/>
        </p:nvGrpSpPr>
        <p:grpSpPr>
          <a:xfrm>
            <a:off x="381000" y="1809750"/>
            <a:ext cx="8382000" cy="654252"/>
            <a:chOff x="381000" y="1809750"/>
            <a:chExt cx="8382000" cy="654252"/>
          </a:xfrm>
        </p:grpSpPr>
        <p:sp>
          <p:nvSpPr>
            <p:cNvPr id="316" name="Google Shape;316;p24"/>
            <p:cNvSpPr/>
            <p:nvPr/>
          </p:nvSpPr>
          <p:spPr>
            <a:xfrm>
              <a:off x="381000" y="1809750"/>
              <a:ext cx="8382000" cy="619200"/>
            </a:xfrm>
            <a:prstGeom prst="roundRect">
              <a:avLst>
                <a:gd name="adj" fmla="val 12307"/>
              </a:avLst>
            </a:prstGeom>
            <a:solidFill>
              <a:srgbClr val="FFFFFF"/>
            </a:solidFill>
            <a:ln w="9525" cap="flat" cmpd="sng">
              <a:solidFill>
                <a:srgbClr val="FF4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4"/>
            <p:cNvSpPr txBox="1"/>
            <p:nvPr/>
          </p:nvSpPr>
          <p:spPr>
            <a:xfrm>
              <a:off x="571500" y="1844802"/>
              <a:ext cx="1143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8" name="Google Shape;318;p24"/>
            <p:cNvSpPr txBox="1"/>
            <p:nvPr/>
          </p:nvSpPr>
          <p:spPr>
            <a:xfrm>
              <a:off x="1714500" y="1809750"/>
              <a:ext cx="685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Chatbot AI</a:t>
              </a:r>
              <a:endParaRPr sz="16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Human-centric Situational Awareness</a:t>
              </a:r>
              <a:endParaRPr sz="11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p24"/>
          <p:cNvGrpSpPr/>
          <p:nvPr/>
        </p:nvGrpSpPr>
        <p:grpSpPr>
          <a:xfrm>
            <a:off x="381000" y="2571750"/>
            <a:ext cx="8382000" cy="654252"/>
            <a:chOff x="381000" y="2571750"/>
            <a:chExt cx="8382000" cy="654252"/>
          </a:xfrm>
        </p:grpSpPr>
        <p:sp>
          <p:nvSpPr>
            <p:cNvPr id="320" name="Google Shape;320;p24"/>
            <p:cNvSpPr/>
            <p:nvPr/>
          </p:nvSpPr>
          <p:spPr>
            <a:xfrm>
              <a:off x="381000" y="2571750"/>
              <a:ext cx="8382000" cy="619200"/>
            </a:xfrm>
            <a:prstGeom prst="roundRect">
              <a:avLst>
                <a:gd name="adj" fmla="val 12307"/>
              </a:avLst>
            </a:prstGeom>
            <a:solidFill>
              <a:srgbClr val="FFF5F5"/>
            </a:solidFill>
            <a:ln w="9525" cap="flat" cmpd="sng">
              <a:solidFill>
                <a:srgbClr val="FF4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4"/>
            <p:cNvSpPr txBox="1"/>
            <p:nvPr/>
          </p:nvSpPr>
          <p:spPr>
            <a:xfrm>
              <a:off x="571500" y="2606802"/>
              <a:ext cx="1143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22" name="Google Shape;322;p24"/>
            <p:cNvSpPr txBox="1"/>
            <p:nvPr/>
          </p:nvSpPr>
          <p:spPr>
            <a:xfrm>
              <a:off x="1714500" y="2571750"/>
              <a:ext cx="685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Generate Alert</a:t>
              </a:r>
              <a:endParaRPr sz="16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Severity-based Classification</a:t>
              </a:r>
              <a:endParaRPr sz="11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24"/>
          <p:cNvGrpSpPr/>
          <p:nvPr/>
        </p:nvGrpSpPr>
        <p:grpSpPr>
          <a:xfrm>
            <a:off x="381000" y="3333750"/>
            <a:ext cx="8382000" cy="654252"/>
            <a:chOff x="381000" y="3333750"/>
            <a:chExt cx="8382000" cy="654252"/>
          </a:xfrm>
        </p:grpSpPr>
        <p:sp>
          <p:nvSpPr>
            <p:cNvPr id="324" name="Google Shape;324;p24"/>
            <p:cNvSpPr/>
            <p:nvPr/>
          </p:nvSpPr>
          <p:spPr>
            <a:xfrm>
              <a:off x="381000" y="3333750"/>
              <a:ext cx="8382000" cy="619200"/>
            </a:xfrm>
            <a:prstGeom prst="roundRect">
              <a:avLst>
                <a:gd name="adj" fmla="val 12307"/>
              </a:avLst>
            </a:prstGeom>
            <a:solidFill>
              <a:srgbClr val="FFFFFF"/>
            </a:solidFill>
            <a:ln w="9525" cap="flat" cmpd="sng">
              <a:solidFill>
                <a:srgbClr val="FF4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4"/>
            <p:cNvSpPr txBox="1"/>
            <p:nvPr/>
          </p:nvSpPr>
          <p:spPr>
            <a:xfrm>
              <a:off x="571500" y="3368802"/>
              <a:ext cx="1143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26" name="Google Shape;326;p24"/>
            <p:cNvSpPr txBox="1"/>
            <p:nvPr/>
          </p:nvSpPr>
          <p:spPr>
            <a:xfrm>
              <a:off x="1714500" y="3333750"/>
              <a:ext cx="685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Display Portal</a:t>
              </a:r>
              <a:endParaRPr sz="16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Web &amp; Multi-channel Broadcast</a:t>
              </a:r>
              <a:endParaRPr sz="11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7" name="Google Shape;327;p24"/>
          <p:cNvGrpSpPr/>
          <p:nvPr/>
        </p:nvGrpSpPr>
        <p:grpSpPr>
          <a:xfrm>
            <a:off x="381000" y="4095750"/>
            <a:ext cx="8382000" cy="654252"/>
            <a:chOff x="381000" y="4095750"/>
            <a:chExt cx="8382000" cy="654252"/>
          </a:xfrm>
        </p:grpSpPr>
        <p:sp>
          <p:nvSpPr>
            <p:cNvPr id="328" name="Google Shape;328;p24"/>
            <p:cNvSpPr/>
            <p:nvPr/>
          </p:nvSpPr>
          <p:spPr>
            <a:xfrm>
              <a:off x="381000" y="4095750"/>
              <a:ext cx="8382000" cy="619200"/>
            </a:xfrm>
            <a:prstGeom prst="roundRect">
              <a:avLst>
                <a:gd name="adj" fmla="val 12307"/>
              </a:avLst>
            </a:prstGeom>
            <a:solidFill>
              <a:srgbClr val="FFF5F5"/>
            </a:solidFill>
            <a:ln w="9525" cap="flat" cmpd="sng">
              <a:solidFill>
                <a:srgbClr val="FF4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4"/>
            <p:cNvSpPr txBox="1"/>
            <p:nvPr/>
          </p:nvSpPr>
          <p:spPr>
            <a:xfrm>
              <a:off x="571500" y="4130802"/>
              <a:ext cx="1143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45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30" name="Google Shape;330;p24"/>
            <p:cNvSpPr txBox="1"/>
            <p:nvPr/>
          </p:nvSpPr>
          <p:spPr>
            <a:xfrm>
              <a:off x="1714500" y="4095750"/>
              <a:ext cx="685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Analyze</a:t>
              </a:r>
              <a:endParaRPr sz="16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Continuous Feedback Loop Improvement</a:t>
              </a:r>
              <a:endParaRPr sz="11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5516C97-BAFB-1BCD-6313-56E733E4D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420" y="1082802"/>
            <a:ext cx="695422" cy="5811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9A3477-4DF1-33D7-C8E0-29CDE8DF84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04" y="1844802"/>
            <a:ext cx="866896" cy="552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1D4EF2-6068-1F93-05EF-E9BE7F3D1A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420" y="2594585"/>
            <a:ext cx="743054" cy="552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7C5394-C846-7823-E7FD-9A12CD4457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367" y="3341643"/>
            <a:ext cx="714475" cy="5144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D5FB3F-AD9F-82BF-0C15-17DE6EB6EB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366" y="4141740"/>
            <a:ext cx="714475" cy="5906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5"/>
          <p:cNvSpPr/>
          <p:nvPr/>
        </p:nvSpPr>
        <p:spPr>
          <a:xfrm>
            <a:off x="0" y="5000625"/>
            <a:ext cx="9144000" cy="142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7" name="Google Shape;337;p25"/>
          <p:cNvPicPr preferRelativeResize="0"/>
          <p:nvPr/>
        </p:nvPicPr>
        <p:blipFill rotWithShape="1">
          <a:blip r:embed="rId4">
            <a:alphaModFix/>
          </a:blip>
          <a:srcRect l="10" r="10"/>
          <a:stretch/>
        </p:blipFill>
        <p:spPr>
          <a:xfrm>
            <a:off x="6829425" y="176213"/>
            <a:ext cx="1767000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" name="Google Shape;338;p25"/>
          <p:cNvGrpSpPr/>
          <p:nvPr/>
        </p:nvGrpSpPr>
        <p:grpSpPr>
          <a:xfrm>
            <a:off x="381000" y="952500"/>
            <a:ext cx="8382000" cy="3810000"/>
            <a:chOff x="381000" y="952500"/>
            <a:chExt cx="8382000" cy="3810000"/>
          </a:xfrm>
        </p:grpSpPr>
        <p:sp>
          <p:nvSpPr>
            <p:cNvPr id="339" name="Google Shape;339;p25"/>
            <p:cNvSpPr/>
            <p:nvPr/>
          </p:nvSpPr>
          <p:spPr>
            <a:xfrm>
              <a:off x="381000" y="952500"/>
              <a:ext cx="8382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9525" cap="flat" cmpd="sng">
              <a:solidFill>
                <a:srgbClr val="FF4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5"/>
            <p:cNvSpPr txBox="1"/>
            <p:nvPr/>
          </p:nvSpPr>
          <p:spPr>
            <a:xfrm>
              <a:off x="666750" y="114300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Projected Annual Billion-Dollar Disasters (2026-2031)</a:t>
              </a:r>
              <a:endParaRPr sz="18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1" name="Google Shape;341;p25"/>
            <p:cNvGrpSpPr/>
            <p:nvPr/>
          </p:nvGrpSpPr>
          <p:grpSpPr>
            <a:xfrm>
              <a:off x="666750" y="1714500"/>
              <a:ext cx="7810500" cy="428700"/>
              <a:chOff x="666750" y="1714500"/>
              <a:chExt cx="7810500" cy="428700"/>
            </a:xfrm>
          </p:grpSpPr>
          <p:sp>
            <p:nvSpPr>
              <p:cNvPr id="342" name="Google Shape;342;p25"/>
              <p:cNvSpPr/>
              <p:nvPr/>
            </p:nvSpPr>
            <p:spPr>
              <a:xfrm>
                <a:off x="666750" y="1714500"/>
                <a:ext cx="15621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FF45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5"/>
              <p:cNvSpPr/>
              <p:nvPr/>
            </p:nvSpPr>
            <p:spPr>
              <a:xfrm>
                <a:off x="2228850" y="1714500"/>
                <a:ext cx="15621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FF45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5"/>
              <p:cNvSpPr/>
              <p:nvPr/>
            </p:nvSpPr>
            <p:spPr>
              <a:xfrm>
                <a:off x="3790950" y="1714500"/>
                <a:ext cx="15621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FF45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5"/>
              <p:cNvSpPr/>
              <p:nvPr/>
            </p:nvSpPr>
            <p:spPr>
              <a:xfrm>
                <a:off x="5353050" y="1714500"/>
                <a:ext cx="15621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FF45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5"/>
              <p:cNvSpPr/>
              <p:nvPr/>
            </p:nvSpPr>
            <p:spPr>
              <a:xfrm>
                <a:off x="6915150" y="1714500"/>
                <a:ext cx="15621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11182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5"/>
              <p:cNvSpPr txBox="1"/>
              <p:nvPr/>
            </p:nvSpPr>
            <p:spPr>
              <a:xfrm>
                <a:off x="666750" y="1714500"/>
                <a:ext cx="15621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Year</a:t>
                </a:r>
                <a:endParaRPr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25"/>
              <p:cNvSpPr txBox="1"/>
              <p:nvPr/>
            </p:nvSpPr>
            <p:spPr>
              <a:xfrm>
                <a:off x="2228850" y="1714500"/>
                <a:ext cx="15621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Linear</a:t>
                </a:r>
                <a:endParaRPr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25"/>
              <p:cNvSpPr txBox="1"/>
              <p:nvPr/>
            </p:nvSpPr>
            <p:spPr>
              <a:xfrm>
                <a:off x="3790950" y="1714500"/>
                <a:ext cx="15621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Polynomial</a:t>
                </a:r>
                <a:endParaRPr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25"/>
              <p:cNvSpPr txBox="1"/>
              <p:nvPr/>
            </p:nvSpPr>
            <p:spPr>
              <a:xfrm>
                <a:off x="5353050" y="1714500"/>
                <a:ext cx="15621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Random Forest</a:t>
                </a:r>
                <a:endParaRPr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25"/>
              <p:cNvSpPr txBox="1"/>
              <p:nvPr/>
            </p:nvSpPr>
            <p:spPr>
              <a:xfrm>
                <a:off x="6915150" y="1714500"/>
                <a:ext cx="15621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ENSEMBLE AVG</a:t>
                </a:r>
                <a:endParaRPr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2" name="Google Shape;352;p25"/>
            <p:cNvGrpSpPr/>
            <p:nvPr/>
          </p:nvGrpSpPr>
          <p:grpSpPr>
            <a:xfrm>
              <a:off x="666750" y="2238375"/>
              <a:ext cx="7810500" cy="2286000"/>
              <a:chOff x="666750" y="2238375"/>
              <a:chExt cx="7810500" cy="2286000"/>
            </a:xfrm>
          </p:grpSpPr>
          <p:pic>
            <p:nvPicPr>
              <p:cNvPr id="353" name="Google Shape;353;p25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66750" y="2566988"/>
                <a:ext cx="78105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4" name="Google Shape;354;p25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66750" y="2947988"/>
                <a:ext cx="78105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5" name="Google Shape;355;p25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66750" y="3328988"/>
                <a:ext cx="78105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6" name="Google Shape;356;p25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66750" y="3709988"/>
                <a:ext cx="78105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7" name="Google Shape;357;p25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66750" y="4090988"/>
                <a:ext cx="78105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8" name="Google Shape;358;p25"/>
              <p:cNvSpPr txBox="1"/>
              <p:nvPr/>
            </p:nvSpPr>
            <p:spPr>
              <a:xfrm>
                <a:off x="666750" y="2238375"/>
                <a:ext cx="15621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1">
                    <a:solidFill>
                      <a:srgbClr val="111827"/>
                    </a:solidFill>
                    <a:latin typeface="Arial"/>
                    <a:ea typeface="Arial"/>
                    <a:cs typeface="Arial"/>
                    <a:sym typeface="Arial"/>
                  </a:rPr>
                  <a:t>2026</a:t>
                </a:r>
                <a:endParaRPr sz="13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1">
                    <a:solidFill>
                      <a:srgbClr val="111827"/>
                    </a:solidFill>
                    <a:latin typeface="Arial"/>
                    <a:ea typeface="Arial"/>
                    <a:cs typeface="Arial"/>
                    <a:sym typeface="Arial"/>
                  </a:rPr>
                  <a:t>2027</a:t>
                </a:r>
                <a:endParaRPr sz="13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1">
                    <a:solidFill>
                      <a:srgbClr val="111827"/>
                    </a:solidFill>
                    <a:latin typeface="Arial"/>
                    <a:ea typeface="Arial"/>
                    <a:cs typeface="Arial"/>
                    <a:sym typeface="Arial"/>
                  </a:rPr>
                  <a:t>2028</a:t>
                </a:r>
                <a:endParaRPr sz="13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1">
                    <a:solidFill>
                      <a:srgbClr val="111827"/>
                    </a:solidFill>
                    <a:latin typeface="Arial"/>
                    <a:ea typeface="Arial"/>
                    <a:cs typeface="Arial"/>
                    <a:sym typeface="Arial"/>
                  </a:rPr>
                  <a:t>2029</a:t>
                </a:r>
                <a:endParaRPr sz="13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1">
                    <a:solidFill>
                      <a:srgbClr val="111827"/>
                    </a:solidFill>
                    <a:latin typeface="Arial"/>
                    <a:ea typeface="Arial"/>
                    <a:cs typeface="Arial"/>
                    <a:sym typeface="Arial"/>
                  </a:rPr>
                  <a:t>2030</a:t>
                </a:r>
                <a:endParaRPr sz="13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1">
                    <a:solidFill>
                      <a:srgbClr val="111827"/>
                    </a:solidFill>
                    <a:latin typeface="Arial"/>
                    <a:ea typeface="Arial"/>
                    <a:cs typeface="Arial"/>
                    <a:sym typeface="Arial"/>
                  </a:rPr>
                  <a:t>2031</a:t>
                </a:r>
                <a:endParaRPr sz="1300" b="1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25"/>
              <p:cNvSpPr txBox="1"/>
              <p:nvPr/>
            </p:nvSpPr>
            <p:spPr>
              <a:xfrm>
                <a:off x="2228850" y="2238375"/>
                <a:ext cx="15621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14.6</a:t>
                </a:r>
                <a:endParaRPr sz="13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14.9</a:t>
                </a:r>
                <a:endParaRPr sz="13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15.3</a:t>
                </a:r>
                <a:endParaRPr sz="13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15.6</a:t>
                </a:r>
                <a:endParaRPr sz="13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16.0</a:t>
                </a:r>
                <a:endParaRPr sz="13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16.3</a:t>
                </a:r>
                <a:endParaRPr sz="13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25"/>
              <p:cNvSpPr txBox="1"/>
              <p:nvPr/>
            </p:nvSpPr>
            <p:spPr>
              <a:xfrm>
                <a:off x="3790950" y="2238375"/>
                <a:ext cx="15621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20.4</a:t>
                </a:r>
                <a:endParaRPr sz="13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21.3</a:t>
                </a:r>
                <a:endParaRPr sz="13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22.3</a:t>
                </a:r>
                <a:endParaRPr sz="13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23.3</a:t>
                </a:r>
                <a:endParaRPr sz="13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24.3</a:t>
                </a:r>
                <a:endParaRPr sz="13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25.3</a:t>
                </a:r>
                <a:endParaRPr sz="13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25"/>
              <p:cNvSpPr txBox="1"/>
              <p:nvPr/>
            </p:nvSpPr>
            <p:spPr>
              <a:xfrm>
                <a:off x="5353050" y="2238375"/>
                <a:ext cx="15621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14.0</a:t>
                </a:r>
                <a:endParaRPr sz="13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13.9</a:t>
                </a:r>
                <a:endParaRPr sz="13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14.0</a:t>
                </a:r>
                <a:endParaRPr sz="13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13.9</a:t>
                </a:r>
                <a:endParaRPr sz="13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13.9</a:t>
                </a:r>
                <a:endParaRPr sz="13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14.0</a:t>
                </a:r>
                <a:endParaRPr sz="13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25"/>
              <p:cNvSpPr txBox="1"/>
              <p:nvPr/>
            </p:nvSpPr>
            <p:spPr>
              <a:xfrm>
                <a:off x="6915150" y="2238375"/>
                <a:ext cx="15621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1">
                    <a:solidFill>
                      <a:srgbClr val="FF4500"/>
                    </a:solidFill>
                    <a:latin typeface="Arial"/>
                    <a:ea typeface="Arial"/>
                    <a:cs typeface="Arial"/>
                    <a:sym typeface="Arial"/>
                  </a:rPr>
                  <a:t>15.8</a:t>
                </a:r>
                <a:endParaRPr sz="1300" b="1">
                  <a:solidFill>
                    <a:srgbClr val="FF45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1">
                    <a:solidFill>
                      <a:srgbClr val="FF4500"/>
                    </a:solidFill>
                    <a:latin typeface="Arial"/>
                    <a:ea typeface="Arial"/>
                    <a:cs typeface="Arial"/>
                    <a:sym typeface="Arial"/>
                  </a:rPr>
                  <a:t>16.1</a:t>
                </a:r>
                <a:endParaRPr sz="1300" b="1">
                  <a:solidFill>
                    <a:srgbClr val="FF45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1">
                    <a:solidFill>
                      <a:srgbClr val="FF4500"/>
                    </a:solidFill>
                    <a:latin typeface="Arial"/>
                    <a:ea typeface="Arial"/>
                    <a:cs typeface="Arial"/>
                    <a:sym typeface="Arial"/>
                  </a:rPr>
                  <a:t>16.3</a:t>
                </a:r>
                <a:endParaRPr sz="1300" b="1">
                  <a:solidFill>
                    <a:srgbClr val="FF45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1">
                    <a:solidFill>
                      <a:srgbClr val="FF4500"/>
                    </a:solidFill>
                    <a:latin typeface="Arial"/>
                    <a:ea typeface="Arial"/>
                    <a:cs typeface="Arial"/>
                    <a:sym typeface="Arial"/>
                  </a:rPr>
                  <a:t>16.9</a:t>
                </a:r>
                <a:endParaRPr sz="1300" b="1">
                  <a:solidFill>
                    <a:srgbClr val="FF45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1">
                    <a:solidFill>
                      <a:srgbClr val="FF4500"/>
                    </a:solidFill>
                    <a:latin typeface="Arial"/>
                    <a:ea typeface="Arial"/>
                    <a:cs typeface="Arial"/>
                    <a:sym typeface="Arial"/>
                  </a:rPr>
                  <a:t>17.0</a:t>
                </a:r>
                <a:endParaRPr sz="1300" b="1">
                  <a:solidFill>
                    <a:srgbClr val="FF45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 b="1">
                    <a:solidFill>
                      <a:srgbClr val="FF4500"/>
                    </a:solidFill>
                    <a:latin typeface="Arial"/>
                    <a:ea typeface="Arial"/>
                    <a:cs typeface="Arial"/>
                    <a:sym typeface="Arial"/>
                  </a:rPr>
                  <a:t>17.4</a:t>
                </a:r>
                <a:endParaRPr sz="1300" b="1">
                  <a:solidFill>
                    <a:srgbClr val="FF45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3" name="Google Shape;363;p25"/>
          <p:cNvSpPr txBox="1"/>
          <p:nvPr/>
        </p:nvSpPr>
        <p:spPr>
          <a:xfrm>
            <a:off x="381000" y="0"/>
            <a:ext cx="7620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Ensemble Disaster Forecast</a:t>
            </a:r>
            <a:endParaRPr sz="3200" b="1" i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0" y="5000625"/>
            <a:ext cx="9144000" cy="142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0" name="Google Shape;370;p26"/>
          <p:cNvPicPr preferRelativeResize="0"/>
          <p:nvPr/>
        </p:nvPicPr>
        <p:blipFill rotWithShape="1">
          <a:blip r:embed="rId4">
            <a:alphaModFix/>
          </a:blip>
          <a:srcRect t="10" b="10"/>
          <a:stretch/>
        </p:blipFill>
        <p:spPr>
          <a:xfrm>
            <a:off x="6829425" y="176213"/>
            <a:ext cx="17673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6"/>
          <p:cNvSpPr txBox="1"/>
          <p:nvPr/>
        </p:nvSpPr>
        <p:spPr>
          <a:xfrm>
            <a:off x="381000" y="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Main Prediction Chart</a:t>
            </a:r>
            <a:endParaRPr sz="32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6"/>
          <p:cNvSpPr txBox="1"/>
          <p:nvPr/>
        </p:nvSpPr>
        <p:spPr>
          <a:xfrm>
            <a:off x="279100" y="956925"/>
            <a:ext cx="8594700" cy="3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  <p:pic>
        <p:nvPicPr>
          <p:cNvPr id="373" name="Google Shape;37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075" y="932475"/>
            <a:ext cx="8705424" cy="36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7"/>
          <p:cNvSpPr/>
          <p:nvPr/>
        </p:nvSpPr>
        <p:spPr>
          <a:xfrm>
            <a:off x="0" y="5000625"/>
            <a:ext cx="9144000" cy="142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0" name="Google Shape;380;p27"/>
          <p:cNvPicPr preferRelativeResize="0"/>
          <p:nvPr/>
        </p:nvPicPr>
        <p:blipFill rotWithShape="1">
          <a:blip r:embed="rId4">
            <a:alphaModFix/>
          </a:blip>
          <a:srcRect l="10" r="10"/>
          <a:stretch/>
        </p:blipFill>
        <p:spPr>
          <a:xfrm>
            <a:off x="6829425" y="176213"/>
            <a:ext cx="17670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7"/>
          <p:cNvSpPr txBox="1"/>
          <p:nvPr/>
        </p:nvSpPr>
        <p:spPr>
          <a:xfrm>
            <a:off x="0" y="0"/>
            <a:ext cx="6829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Forecast Summary Chart (2026–2031)</a:t>
            </a:r>
            <a:endParaRPr sz="32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7"/>
          <p:cNvSpPr txBox="1"/>
          <p:nvPr/>
        </p:nvSpPr>
        <p:spPr>
          <a:xfrm>
            <a:off x="361075" y="1012300"/>
            <a:ext cx="8406300" cy="37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  <p:pic>
        <p:nvPicPr>
          <p:cNvPr id="383" name="Google Shape;38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975" y="892150"/>
            <a:ext cx="8840950" cy="410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8"/>
          <p:cNvSpPr/>
          <p:nvPr/>
        </p:nvSpPr>
        <p:spPr>
          <a:xfrm>
            <a:off x="0" y="5000625"/>
            <a:ext cx="9144000" cy="142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0" name="Google Shape;390;p28"/>
          <p:cNvPicPr preferRelativeResize="0"/>
          <p:nvPr/>
        </p:nvPicPr>
        <p:blipFill rotWithShape="1">
          <a:blip r:embed="rId4">
            <a:alphaModFix/>
          </a:blip>
          <a:srcRect t="10" b="10"/>
          <a:stretch/>
        </p:blipFill>
        <p:spPr>
          <a:xfrm>
            <a:off x="6829425" y="176213"/>
            <a:ext cx="17673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8"/>
          <p:cNvSpPr txBox="1"/>
          <p:nvPr/>
        </p:nvSpPr>
        <p:spPr>
          <a:xfrm>
            <a:off x="381000" y="0"/>
            <a:ext cx="63573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8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 Importance (Random Forest &amp; Gradient Boosting)</a:t>
            </a:r>
            <a:endParaRPr sz="238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8"/>
          <p:cNvSpPr txBox="1"/>
          <p:nvPr/>
        </p:nvSpPr>
        <p:spPr>
          <a:xfrm>
            <a:off x="181650" y="835100"/>
            <a:ext cx="8716500" cy="3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  <p:pic>
        <p:nvPicPr>
          <p:cNvPr id="393" name="Google Shape;39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00" y="1388238"/>
            <a:ext cx="8874850" cy="28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30"/>
          <p:cNvSpPr/>
          <p:nvPr/>
        </p:nvSpPr>
        <p:spPr>
          <a:xfrm>
            <a:off x="0" y="5000625"/>
            <a:ext cx="9144000" cy="142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9" name="Google Shape;419;p30"/>
          <p:cNvPicPr preferRelativeResize="0"/>
          <p:nvPr/>
        </p:nvPicPr>
        <p:blipFill rotWithShape="1">
          <a:blip r:embed="rId4">
            <a:alphaModFix/>
          </a:blip>
          <a:srcRect t="120" b="130"/>
          <a:stretch/>
        </p:blipFill>
        <p:spPr>
          <a:xfrm>
            <a:off x="6829425" y="171450"/>
            <a:ext cx="17718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0"/>
          <p:cNvSpPr txBox="1"/>
          <p:nvPr/>
        </p:nvSpPr>
        <p:spPr>
          <a:xfrm>
            <a:off x="381000" y="0"/>
            <a:ext cx="6286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8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 Model Comparison &amp; Results Summary</a:t>
            </a:r>
            <a:endParaRPr sz="238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425" y="810175"/>
            <a:ext cx="8328826" cy="414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1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1"/>
          <p:cNvSpPr/>
          <p:nvPr/>
        </p:nvSpPr>
        <p:spPr>
          <a:xfrm>
            <a:off x="0" y="5000625"/>
            <a:ext cx="9144000" cy="142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8" name="Google Shape;428;p31"/>
          <p:cNvPicPr preferRelativeResize="0"/>
          <p:nvPr/>
        </p:nvPicPr>
        <p:blipFill rotWithShape="1">
          <a:blip r:embed="rId4">
            <a:alphaModFix/>
          </a:blip>
          <a:srcRect l="10" r="10"/>
          <a:stretch/>
        </p:blipFill>
        <p:spPr>
          <a:xfrm>
            <a:off x="6829425" y="176213"/>
            <a:ext cx="17670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1"/>
          <p:cNvSpPr txBox="1"/>
          <p:nvPr/>
        </p:nvSpPr>
        <p:spPr>
          <a:xfrm>
            <a:off x="381000" y="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32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p31"/>
          <p:cNvGrpSpPr/>
          <p:nvPr/>
        </p:nvGrpSpPr>
        <p:grpSpPr>
          <a:xfrm>
            <a:off x="2190750" y="1714500"/>
            <a:ext cx="4762500" cy="1714500"/>
            <a:chOff x="2190750" y="1714500"/>
            <a:chExt cx="4762500" cy="1714500"/>
          </a:xfrm>
        </p:grpSpPr>
        <p:sp>
          <p:nvSpPr>
            <p:cNvPr id="431" name="Google Shape;431;p31"/>
            <p:cNvSpPr/>
            <p:nvPr/>
          </p:nvSpPr>
          <p:spPr>
            <a:xfrm>
              <a:off x="2190750" y="1714500"/>
              <a:ext cx="4762500" cy="1714500"/>
            </a:xfrm>
            <a:prstGeom prst="roundRect">
              <a:avLst>
                <a:gd name="adj" fmla="val 11111"/>
              </a:avLst>
            </a:prstGeom>
            <a:solidFill>
              <a:srgbClr val="FFF5F5"/>
            </a:solidFill>
            <a:ln w="19050" cap="flat" cmpd="sng">
              <a:solidFill>
                <a:srgbClr val="FF4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1"/>
            <p:cNvSpPr txBox="1"/>
            <p:nvPr/>
          </p:nvSpPr>
          <p:spPr>
            <a:xfrm>
              <a:off x="2190750" y="1714500"/>
              <a:ext cx="4762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5400" b="1">
                  <a:solidFill>
                    <a:srgbClr val="FF4500"/>
                  </a:solidFill>
                  <a:latin typeface="Arial"/>
                  <a:ea typeface="Arial"/>
                  <a:cs typeface="Arial"/>
                  <a:sym typeface="Arial"/>
                </a:rPr>
                <a:t>Thank You</a:t>
              </a:r>
              <a:endParaRPr sz="5400" b="1">
                <a:solidFill>
                  <a:srgbClr val="FF45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</Words>
  <Application>Microsoft Office PowerPoint</Application>
  <PresentationFormat>On-screen Show (16:9)</PresentationFormat>
  <Paragraphs>175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Courier New</vt:lpstr>
      <vt:lpstr>Material Icons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Saransh Sharma</cp:lastModifiedBy>
  <cp:revision>1</cp:revision>
  <dcterms:modified xsi:type="dcterms:W3CDTF">2026-05-18T04:51:51Z</dcterms:modified>
</cp:coreProperties>
</file>